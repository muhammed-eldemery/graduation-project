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docMetadata/LabelInfo.xml" ContentType="application/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_rels/presentation.xml.rels" ContentType="application/vnd.openxmlformats-package.relationships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29.png" ContentType="image/png"/>
  <Override PartName="/ppt/media/image2.wmf" ContentType="image/x-wmf"/>
  <Override PartName="/ppt/media/image14.wmf" ContentType="image/x-wmf"/>
  <Override PartName="/ppt/media/image41.png" ContentType="image/png"/>
  <Override PartName="/ppt/media/image10.wmf" ContentType="image/x-wmf"/>
  <Override PartName="/ppt/media/image25.png" ContentType="image/png"/>
  <Override PartName="/ppt/media/image11.png" ContentType="image/png"/>
  <Override PartName="/ppt/media/image6.wmf" ContentType="image/x-wmf"/>
  <Override PartName="/ppt/media/image38.png" ContentType="image/png"/>
  <Override PartName="/ppt/media/image13.png" ContentType="image/png"/>
  <Override PartName="/ppt/media/image40.png" ContentType="image/png"/>
  <Override PartName="/ppt/media/image8.wmf" ContentType="image/x-wmf"/>
  <Override PartName="/ppt/media/image30.png" ContentType="image/png"/>
  <Override PartName="/ppt/media/image28.png" ContentType="image/png"/>
  <Override PartName="/ppt/media/image32.png" ContentType="image/png"/>
  <Override PartName="/ppt/media/image36.png" ContentType="image/png"/>
  <Override PartName="/ppt/media/image39.png" ContentType="image/png"/>
  <Override PartName="/ppt/media/image9.png" ContentType="image/png"/>
  <Override PartName="/ppt/media/image12.png" ContentType="image/png"/>
  <Override PartName="/ppt/media/image7.png" ContentType="image/png"/>
  <Override PartName="/ppt/media/image37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27.png" ContentType="image/png"/>
  <Override PartName="/ppt/media/image33.png" ContentType="image/png"/>
  <Override PartName="/ppt/media/image3.png" ContentType="image/png"/>
  <Override PartName="/ppt/media/image26.png" ContentType="image/png"/>
  <Override PartName="/ppt/media/image31.png" ContentType="image/png"/>
  <Override PartName="/ppt/media/image1.png" ContentType="image/png"/>
  <Override PartName="/ppt/media/image24.png" ContentType="image/png"/>
  <Override PartName="/ppt/slideLayouts/_rels/slideLayout52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5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53.xml.rels" ContentType="application/vnd.openxmlformats-package.relationships+xml"/>
  <Override PartName="/ppt/slideLayouts/slideLayout5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31.xml.rels" ContentType="application/vnd.openxmlformats-package.relationships+xml"/>
  <Override PartName="/ppt/slides/_rels/slide4.xml.rels" ContentType="application/vnd.openxmlformats-package.relationships+xml"/>
  <Override PartName="/ppt/slides/_rels/slide8.xml.rels" ContentType="application/vnd.openxmlformats-package.relationships+xml"/>
  <Override PartName="/ppt/slides/_rels/slide27.xml.rels" ContentType="application/vnd.openxmlformats-package.relationships+xml"/>
  <Override PartName="/ppt/slides/_rels/slide2.xml.rels" ContentType="application/vnd.openxmlformats-package.relationships+xml"/>
  <Override PartName="/ppt/slides/_rels/slide21.xml.rels" ContentType="application/vnd.openxmlformats-package.relationships+xml"/>
  <Override PartName="/ppt/slides/_rels/slide5.xml.rels" ContentType="application/vnd.openxmlformats-package.relationships+xml"/>
  <Override PartName="/ppt/slides/_rels/slide33.xml.rels" ContentType="application/vnd.openxmlformats-package.relationships+xml"/>
  <Override PartName="/ppt/slides/_rels/slide34.xml.rels" ContentType="application/vnd.openxmlformats-package.relationships+xml"/>
  <Override PartName="/ppt/slides/_rels/slide6.xml.rels" ContentType="application/vnd.openxmlformats-package.relationships+xml"/>
  <Override PartName="/ppt/slides/_rels/slide16.xml.rels" ContentType="application/vnd.openxmlformats-package.relationships+xml"/>
  <Override PartName="/ppt/slides/_rels/slide32.xml.rels" ContentType="application/vnd.openxmlformats-package.relationships+xml"/>
  <Override PartName="/ppt/slides/_rels/slide10.xml.rels" ContentType="application/vnd.openxmlformats-package.relationships+xml"/>
  <Override PartName="/ppt/slides/_rels/slide25.xml.rels" ContentType="application/vnd.openxmlformats-package.relationships+xml"/>
  <Override PartName="/ppt/slides/_rels/slide20.xml.rels" ContentType="application/vnd.openxmlformats-package.relationships+xml"/>
  <Override PartName="/ppt/slides/_rels/slide1.xml.rels" ContentType="application/vnd.openxmlformats-package.relationships+xml"/>
  <Override PartName="/ppt/slides/_rels/slide7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2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9.xml.rels" ContentType="application/vnd.openxmlformats-package.relationships+xml"/>
  <Override PartName="/ppt/slides/_rels/slide3.xml.rels" ContentType="application/vnd.openxmlformats-package.relationships+xml"/>
  <Override PartName="/ppt/slides/_rels/slide28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6.xml" ContentType="application/vnd.openxmlformats-officedocument.presentationml.slide+xml"/>
  <Override PartName="/ppt/slides/slide3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microsoft.com/office/2020/02/relationships/classificationlabels" Target="docMetadata/LabelInfo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2000" cy="6858000"/>
  <p:notesSz cx="7010400" cy="9296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move the slide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dt" idx="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ftr" idx="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28" name="PlaceHolder 6"/>
          <p:cNvSpPr>
            <a:spLocks noGrp="1"/>
          </p:cNvSpPr>
          <p:nvPr>
            <p:ph type="sldNum" idx="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63C982F0-4E14-45E2-8515-FCDA2609A4A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6680" cy="3485160"/>
          </a:xfrm>
          <a:prstGeom prst="rect">
            <a:avLst/>
          </a:prstGeom>
          <a:ln w="0">
            <a:noFill/>
          </a:ln>
        </p:spPr>
      </p:sp>
      <p:sp>
        <p:nvSpPr>
          <p:cNvPr id="329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360" cy="4182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0" name="PlaceHolder 3"/>
          <p:cNvSpPr>
            <a:spLocks noGrp="1"/>
          </p:cNvSpPr>
          <p:nvPr>
            <p:ph type="sldNum" idx="15"/>
          </p:nvPr>
        </p:nvSpPr>
        <p:spPr>
          <a:xfrm>
            <a:off x="6309360" y="8830080"/>
            <a:ext cx="6984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ACEC9C8-324F-4CB3-9FAD-E3815D01E8B7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34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6680" cy="3485160"/>
          </a:xfrm>
          <a:prstGeom prst="rect">
            <a:avLst/>
          </a:prstGeom>
          <a:ln w="0">
            <a:noFill/>
          </a:ln>
        </p:spPr>
      </p:sp>
      <p:sp>
        <p:nvSpPr>
          <p:cNvPr id="332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360" cy="4182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3" name="PlaceHolder 3"/>
          <p:cNvSpPr>
            <a:spLocks noGrp="1"/>
          </p:cNvSpPr>
          <p:nvPr>
            <p:ph type="sldNum" idx="16"/>
          </p:nvPr>
        </p:nvSpPr>
        <p:spPr>
          <a:xfrm>
            <a:off x="6309360" y="8830080"/>
            <a:ext cx="6984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F2649ED-9615-4678-A76A-DE023A4803D4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34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6680" cy="3485160"/>
          </a:xfrm>
          <a:prstGeom prst="rect">
            <a:avLst/>
          </a:prstGeom>
          <a:ln w="0">
            <a:noFill/>
          </a:ln>
        </p:spPr>
      </p:sp>
      <p:sp>
        <p:nvSpPr>
          <p:cNvPr id="335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360" cy="4182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6" name="PlaceHolder 3"/>
          <p:cNvSpPr>
            <a:spLocks noGrp="1"/>
          </p:cNvSpPr>
          <p:nvPr>
            <p:ph type="sldNum" idx="17"/>
          </p:nvPr>
        </p:nvSpPr>
        <p:spPr>
          <a:xfrm>
            <a:off x="6309360" y="8830080"/>
            <a:ext cx="6984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17D64A8-CB69-4126-A4F8-DD000026BC28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6680" cy="3485160"/>
          </a:xfrm>
          <a:prstGeom prst="rect">
            <a:avLst/>
          </a:prstGeom>
          <a:ln w="0">
            <a:noFill/>
          </a:ln>
        </p:spPr>
      </p:sp>
      <p:sp>
        <p:nvSpPr>
          <p:cNvPr id="338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360" cy="4182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39" name="PlaceHolder 3"/>
          <p:cNvSpPr>
            <a:spLocks noGrp="1"/>
          </p:cNvSpPr>
          <p:nvPr>
            <p:ph type="sldNum" idx="18"/>
          </p:nvPr>
        </p:nvSpPr>
        <p:spPr>
          <a:xfrm>
            <a:off x="6309360" y="8830080"/>
            <a:ext cx="6984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4A8216-B380-4035-A2F8-35845DE88090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sldImg"/>
          </p:nvPr>
        </p:nvSpPr>
        <p:spPr>
          <a:xfrm>
            <a:off x="406440" y="814320"/>
            <a:ext cx="6196680" cy="3485160"/>
          </a:xfrm>
          <a:prstGeom prst="rect">
            <a:avLst/>
          </a:prstGeom>
          <a:ln w="0">
            <a:noFill/>
          </a:ln>
        </p:spPr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700920" y="4415760"/>
            <a:ext cx="5607360" cy="41824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t">
            <a:noAutofit/>
          </a:bodyPr>
          <a:p>
            <a:endParaRPr b="0" lang="en-US" sz="2000" spc="-1" strike="noStrike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sldNum" idx="19"/>
          </p:nvPr>
        </p:nvSpPr>
        <p:spPr>
          <a:xfrm>
            <a:off x="6309360" y="8830080"/>
            <a:ext cx="698400" cy="463680"/>
          </a:xfrm>
          <a:prstGeom prst="rect">
            <a:avLst/>
          </a:prstGeom>
          <a:noFill/>
          <a:ln w="0">
            <a:noFill/>
          </a:ln>
        </p:spPr>
        <p:txBody>
          <a:bodyPr lIns="93240" rIns="93240" tIns="46440" bIns="4644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000" spc="-1" strike="noStrike">
                <a:solidFill>
                  <a:srgbClr val="808080"/>
                </a:solidFill>
                <a:latin typeface="Barlow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A27A8A7-C5A5-40E2-96B7-779408B9C93A}" type="slidenum">
              <a:rPr b="0" lang="en-US" sz="1000" spc="-1" strike="noStrike">
                <a:solidFill>
                  <a:srgbClr val="808080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8D48186-66DB-4F1B-BA94-A462DEB7C768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8E92DBE-DB9C-4382-BB05-B968F13829C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6D8A291-7C8F-4E66-A005-671DBE753111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807103E-473A-44FE-98B3-FEB0BE12176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4DD35D3-4FCE-40EC-95A3-CA86BC640854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FA0FB63-386C-4931-9202-D6FB61A40CE9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99608C9-FE08-4EAE-A4DD-1297386865C8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4AF91BC-9D6D-422B-9233-189C4B35D6DC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202BCE5-6292-4723-A68C-ED8CFC5141A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9CEA847A-0B22-4551-BE6D-74EA2ABDD387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50091C9-2FB6-401E-90B1-B5935707CD19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C13D0CC-6788-4711-8DBF-C3E4CC0D6C89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30B9B7C-57F4-4163-805E-05B92BEE2CC1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FDD20B-028B-4F7F-999D-D9A030F54E5D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D7FD993-4A6A-4BD2-9D46-5F59588DC7C1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2F357EA-75DA-4741-ADAA-25FB36686C17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18A3BC-49B4-4450-AD1B-3D4D9CE21F57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B48D42-CA8F-43FE-8C87-89FB00A3290A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4877BC-0EBD-456E-8960-AF92D88DE83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46F966C-B025-4FD7-80E3-B16A6555EB2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41CBDE7-7D65-421D-A5D5-B932720C0CFF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5C7E05F-4EFA-46A7-A593-1F4776730BCF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F8F0D3-BB4A-4866-A3A6-819B48094653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3B0B82E-C902-4D5E-8BF7-48299C575558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4754656-8118-4D75-92DA-F098ECD7300D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76778DE-1785-41C6-B7BF-7FBE033F3F3D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A1437E-14E0-492D-B51E-B107C53F49AF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692A2E-D11C-4746-ACA8-42A6026B62AD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ABD035-C455-4E07-8878-B525E911DF8A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EBB248E-D393-47F6-8434-7F2124015457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DE2804C-6771-4A4E-B468-287B3551A6B0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B3C64C-3FDC-4258-9261-9B4C291C92A8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73C702-9E2E-4403-A2C7-55FA1E079178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76A4A4-918F-451D-A1B8-5DAB6E930592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761D19-7EAC-4747-83BA-D0777E36015F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2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3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2145D5B-02FF-4B85-B8E7-5031D73A62F6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530E912-202F-4431-949A-6E3414DE47E7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BD6F6C0-8C7A-42F3-B700-9ECED048FD01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7CC5FD-64C1-4783-89DB-227A66596152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8CE17B0-27E4-4F42-92FA-54E96A6DB124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DCFD4694-EB42-4C7E-B97B-4EA8D8238843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F424C4F-E1CD-48CE-9C7D-9C437BEB584C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10D3857-3F6C-4D25-8FC9-217127E2089F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EF60DB6-7B1A-40B2-A8F5-1B0D19682738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5E2C6112-669C-42B8-9F2D-248D1A51FA15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6AB38FE-290D-4A92-A12E-87A49A55CF0C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BF121A1-F887-44C1-BEBC-1CD9C2148E25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44C02022-C69A-4E79-B09F-C8BC95E4DDCE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CF11F4D-8A68-4873-AD0E-DE4FD89ECE69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DA5DDE9-276D-44FB-BF9F-9042D0EDE8A3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A0F7729-0D06-4CE8-ADA2-7DD10829AE5D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50AF9C7-EFE4-46B4-BA6E-AE87795667F2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B3A303A-B642-4286-9EC2-2BDBEC55E6F7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52BD257-2C78-4142-805E-50A61A78B739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3B1069F-2727-4B18-A420-5208F62A06DE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ADB3C61-3A06-45AF-9FE0-DBFC1BF04D40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0E7A858-F6FD-4F65-94BF-A17043B575B7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B2340E1-4C9A-4AC6-A8AD-BC3C0619AE14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E38825-CCF4-4306-A08E-43AC27FC8B69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1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8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9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0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1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22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1366514-0B6F-4453-A264-AFF48B67287A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wmf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<Relationship Id="rId7" Type="http://schemas.openxmlformats.org/officeDocument/2006/relationships/slideLayout" Target="../slideLayouts/slideLayout2.xml"/><Relationship Id="rId8" Type="http://schemas.openxmlformats.org/officeDocument/2006/relationships/slideLayout" Target="../slideLayouts/slideLayout3.xml"/><Relationship Id="rId9" Type="http://schemas.openxmlformats.org/officeDocument/2006/relationships/slideLayout" Target="../slideLayouts/slideLayout4.xml"/><Relationship Id="rId10" Type="http://schemas.openxmlformats.org/officeDocument/2006/relationships/slideLayout" Target="../slideLayouts/slideLayout5.xml"/><Relationship Id="rId11" Type="http://schemas.openxmlformats.org/officeDocument/2006/relationships/slideLayout" Target="../slideLayouts/slideLayout6.xml"/><Relationship Id="rId12" Type="http://schemas.openxmlformats.org/officeDocument/2006/relationships/slideLayout" Target="../slideLayouts/slideLayout7.xml"/><Relationship Id="rId13" Type="http://schemas.openxmlformats.org/officeDocument/2006/relationships/slideLayout" Target="../slideLayouts/slideLayout8.xml"/><Relationship Id="rId14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5.png"/><Relationship Id="rId3" Type="http://schemas.openxmlformats.org/officeDocument/2006/relationships/image" Target="../media/image6.wmf"/><Relationship Id="rId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7.png"/><Relationship Id="rId3" Type="http://schemas.openxmlformats.org/officeDocument/2006/relationships/image" Target="../media/image8.wmf"/><Relationship Id="rId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9.png"/><Relationship Id="rId3" Type="http://schemas.openxmlformats.org/officeDocument/2006/relationships/image" Target="../media/image10.wmf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37.xml"/><Relationship Id="rId7" Type="http://schemas.openxmlformats.org/officeDocument/2006/relationships/slideLayout" Target="../slideLayouts/slideLayout38.xml"/><Relationship Id="rId8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3.png"/><Relationship Id="rId3" Type="http://schemas.openxmlformats.org/officeDocument/2006/relationships/image" Target="../media/image14.wmf"/><Relationship Id="rId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2.xml"/><Relationship Id="rId8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57.xml"/><Relationship Id="rId13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59.xml"/><Relationship Id="rId15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5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0720" cy="397440"/>
          </a:xfrm>
          <a:prstGeom prst="rect">
            <a:avLst/>
          </a:prstGeom>
          <a:ln w="0">
            <a:noFill/>
          </a:ln>
        </p:spPr>
      </p:pic>
      <p:sp>
        <p:nvSpPr>
          <p:cNvPr id="1" name="Rectangle 19" hidden="1"/>
          <p:cNvSpPr/>
          <p:nvPr/>
        </p:nvSpPr>
        <p:spPr>
          <a:xfrm>
            <a:off x="0" y="6606720"/>
            <a:ext cx="10628640" cy="25020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" name="TextBox 1"/>
          <p:cNvSpPr/>
          <p:nvPr/>
        </p:nvSpPr>
        <p:spPr>
          <a:xfrm>
            <a:off x="23045760" y="19288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" name="Graphic 20" descr=""/>
          <p:cNvPicPr/>
          <p:nvPr/>
        </p:nvPicPr>
        <p:blipFill>
          <a:blip r:embed="rId4"/>
          <a:srcRect l="983" t="31367" r="520" b="18340"/>
          <a:stretch/>
        </p:blipFill>
        <p:spPr>
          <a:xfrm>
            <a:off x="0" y="-5040"/>
            <a:ext cx="12191040" cy="6861960"/>
          </a:xfrm>
          <a:prstGeom prst="rect">
            <a:avLst/>
          </a:prstGeom>
          <a:ln w="0">
            <a:noFill/>
          </a:ln>
        </p:spPr>
      </p:pic>
      <p:sp>
        <p:nvSpPr>
          <p:cNvPr id="5" name="Rectangle 21"/>
          <p:cNvSpPr/>
          <p:nvPr/>
        </p:nvSpPr>
        <p:spPr>
          <a:xfrm>
            <a:off x="0" y="-5040"/>
            <a:ext cx="6094800" cy="686196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" name="TextBox 22"/>
          <p:cNvSpPr/>
          <p:nvPr/>
        </p:nvSpPr>
        <p:spPr>
          <a:xfrm>
            <a:off x="9300240" y="412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" name="Picture 16" descr=""/>
          <p:cNvPicPr/>
          <p:nvPr/>
        </p:nvPicPr>
        <p:blipFill>
          <a:blip r:embed="rId5"/>
          <a:stretch/>
        </p:blipFill>
        <p:spPr>
          <a:xfrm>
            <a:off x="347400" y="412200"/>
            <a:ext cx="1545120" cy="622800"/>
          </a:xfrm>
          <a:prstGeom prst="rect">
            <a:avLst/>
          </a:prstGeom>
          <a:ln w="0">
            <a:noFill/>
          </a:ln>
        </p:spPr>
      </p:pic>
      <p:sp>
        <p:nvSpPr>
          <p:cNvPr id="8" name="PlaceHolder 1"/>
          <p:cNvSpPr>
            <a:spLocks noGrp="1"/>
          </p:cNvSpPr>
          <p:nvPr>
            <p:ph type="sldNum" idx="1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3997282E-EAB8-43E7-A826-05864A2A34C4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</a:t>
            </a:r>
            <a:r>
              <a:rPr b="0" lang="en-US" sz="3200" spc="-1" strike="noStrike">
                <a:latin typeface="Arial"/>
              </a:rPr>
              <a:t>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</a:t>
            </a:r>
            <a:r>
              <a:rPr b="0" lang="en-US" sz="2000" spc="-1" strike="noStrike">
                <a:latin typeface="Arial"/>
              </a:rPr>
              <a:t>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6"/>
    <p:sldLayoutId id="2147483650" r:id="rId7"/>
    <p:sldLayoutId id="2147483651" r:id="rId8"/>
    <p:sldLayoutId id="2147483652" r:id="rId9"/>
    <p:sldLayoutId id="2147483653" r:id="rId10"/>
    <p:sldLayoutId id="2147483654" r:id="rId11"/>
    <p:sldLayoutId id="2147483655" r:id="rId12"/>
    <p:sldLayoutId id="2147483656" r:id="rId13"/>
    <p:sldLayoutId id="2147483657" r:id="rId14"/>
    <p:sldLayoutId id="2147483658" r:id="rId15"/>
    <p:sldLayoutId id="2147483659" r:id="rId16"/>
    <p:sldLayoutId id="2147483660" r:id="rId17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0720" cy="397440"/>
          </a:xfrm>
          <a:prstGeom prst="rect">
            <a:avLst/>
          </a:prstGeom>
          <a:ln w="0">
            <a:noFill/>
          </a:ln>
        </p:spPr>
      </p:pic>
      <p:sp>
        <p:nvSpPr>
          <p:cNvPr id="48" name="Rectangle 19" hidden="1"/>
          <p:cNvSpPr/>
          <p:nvPr/>
        </p:nvSpPr>
        <p:spPr>
          <a:xfrm>
            <a:off x="0" y="6606720"/>
            <a:ext cx="10628640" cy="25020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0" name="TextBox 1"/>
          <p:cNvSpPr/>
          <p:nvPr/>
        </p:nvSpPr>
        <p:spPr>
          <a:xfrm>
            <a:off x="12056400" y="15577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PlaceHolder 1"/>
          <p:cNvSpPr>
            <a:spLocks noGrp="1"/>
          </p:cNvSpPr>
          <p:nvPr>
            <p:ph type="sldNum" idx="2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91FA888C-D40F-4F0F-9015-006D045E689D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0720" cy="397440"/>
          </a:xfrm>
          <a:prstGeom prst="rect">
            <a:avLst/>
          </a:prstGeom>
          <a:ln w="0">
            <a:noFill/>
          </a:ln>
        </p:spPr>
      </p:pic>
      <p:sp>
        <p:nvSpPr>
          <p:cNvPr id="91" name="Rectangle 19" hidden="1"/>
          <p:cNvSpPr/>
          <p:nvPr/>
        </p:nvSpPr>
        <p:spPr>
          <a:xfrm>
            <a:off x="0" y="6606720"/>
            <a:ext cx="10628640" cy="25020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TextBox 1"/>
          <p:cNvSpPr/>
          <p:nvPr/>
        </p:nvSpPr>
        <p:spPr>
          <a:xfrm>
            <a:off x="12056400" y="15577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PlaceHolder 1"/>
          <p:cNvSpPr>
            <a:spLocks noGrp="1"/>
          </p:cNvSpPr>
          <p:nvPr>
            <p:ph type="sldNum" idx="3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2C8BABA5-E885-4390-850F-C56C5FCED60D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5000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0720" cy="397440"/>
          </a:xfrm>
          <a:prstGeom prst="rect">
            <a:avLst/>
          </a:prstGeom>
          <a:ln w="0">
            <a:noFill/>
          </a:ln>
        </p:spPr>
      </p:pic>
      <p:sp>
        <p:nvSpPr>
          <p:cNvPr id="134" name="Rectangle 19" hidden="1"/>
          <p:cNvSpPr/>
          <p:nvPr/>
        </p:nvSpPr>
        <p:spPr>
          <a:xfrm>
            <a:off x="0" y="6606720"/>
            <a:ext cx="10628640" cy="25020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Box 1"/>
          <p:cNvSpPr/>
          <p:nvPr/>
        </p:nvSpPr>
        <p:spPr>
          <a:xfrm>
            <a:off x="23045760" y="192888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7" name="Graphic 20" descr=""/>
          <p:cNvPicPr/>
          <p:nvPr/>
        </p:nvPicPr>
        <p:blipFill>
          <a:blip r:embed="rId4"/>
          <a:srcRect l="983" t="31367" r="520" b="18340"/>
          <a:stretch/>
        </p:blipFill>
        <p:spPr>
          <a:xfrm>
            <a:off x="0" y="-5040"/>
            <a:ext cx="12191040" cy="6861960"/>
          </a:xfrm>
          <a:prstGeom prst="rect">
            <a:avLst/>
          </a:prstGeom>
          <a:ln w="0">
            <a:noFill/>
          </a:ln>
        </p:spPr>
      </p:pic>
      <p:sp>
        <p:nvSpPr>
          <p:cNvPr id="138" name="Rectangle 21"/>
          <p:cNvSpPr/>
          <p:nvPr/>
        </p:nvSpPr>
        <p:spPr>
          <a:xfrm>
            <a:off x="0" y="-5040"/>
            <a:ext cx="6094800" cy="6861960"/>
          </a:xfrm>
          <a:prstGeom prst="rect">
            <a:avLst/>
          </a:prstGeom>
          <a:gradFill rotWithShape="0">
            <a:gsLst>
              <a:gs pos="0">
                <a:srgbClr val="ffffff">
                  <a:alpha val="0"/>
                </a:srgbClr>
              </a:gs>
              <a:gs pos="100000">
                <a:srgbClr val="ffffff">
                  <a:alpha val="50196"/>
                </a:srgbClr>
              </a:gs>
            </a:gsLst>
            <a:lin ang="108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TextBox 22"/>
          <p:cNvSpPr/>
          <p:nvPr/>
        </p:nvSpPr>
        <p:spPr>
          <a:xfrm>
            <a:off x="9300240" y="412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40" name="Picture 16" descr=""/>
          <p:cNvPicPr/>
          <p:nvPr/>
        </p:nvPicPr>
        <p:blipFill>
          <a:blip r:embed="rId5"/>
          <a:stretch/>
        </p:blipFill>
        <p:spPr>
          <a:xfrm>
            <a:off x="347400" y="412200"/>
            <a:ext cx="1545120" cy="622800"/>
          </a:xfrm>
          <a:prstGeom prst="rect">
            <a:avLst/>
          </a:prstGeom>
          <a:ln w="0">
            <a:noFill/>
          </a:ln>
        </p:spPr>
      </p:pic>
      <p:sp>
        <p:nvSpPr>
          <p:cNvPr id="141" name="PlaceHolder 1"/>
          <p:cNvSpPr>
            <a:spLocks noGrp="1"/>
          </p:cNvSpPr>
          <p:nvPr>
            <p:ph type="sldNum" idx="4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57FBFB61-3FC0-424D-BB77-29A63505CDD6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  <p:sldLayoutId id="2147483699" r:id="rId17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>
            <a:alphaModFix amt="0"/>
          </a:blip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Picture 11" descr=""/>
          <p:cNvPicPr/>
          <p:nvPr/>
        </p:nvPicPr>
        <p:blipFill>
          <a:blip r:embed="rId3"/>
          <a:stretch/>
        </p:blipFill>
        <p:spPr>
          <a:xfrm>
            <a:off x="10919520" y="236160"/>
            <a:ext cx="990720" cy="397440"/>
          </a:xfrm>
          <a:prstGeom prst="rect">
            <a:avLst/>
          </a:prstGeom>
          <a:ln w="0">
            <a:noFill/>
          </a:ln>
        </p:spPr>
      </p:pic>
      <p:sp>
        <p:nvSpPr>
          <p:cNvPr id="181" name="Rectangle 19" hidden="1"/>
          <p:cNvSpPr/>
          <p:nvPr/>
        </p:nvSpPr>
        <p:spPr>
          <a:xfrm>
            <a:off x="0" y="6606720"/>
            <a:ext cx="10628640" cy="250200"/>
          </a:xfrm>
          <a:prstGeom prst="rect">
            <a:avLst/>
          </a:prstGeom>
          <a:gradFill rotWithShape="0">
            <a:gsLst>
              <a:gs pos="10000">
                <a:srgbClr val="0067b9"/>
              </a:gs>
              <a:gs pos="100000">
                <a:srgbClr val="41b6e6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TextBox 4" hidden="1"/>
          <p:cNvSpPr/>
          <p:nvPr/>
        </p:nvSpPr>
        <p:spPr>
          <a:xfrm>
            <a:off x="2193480" y="286056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Box 1"/>
          <p:cNvSpPr/>
          <p:nvPr/>
        </p:nvSpPr>
        <p:spPr>
          <a:xfrm>
            <a:off x="12056400" y="1557720"/>
            <a:ext cx="360" cy="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PlaceHolder 1"/>
          <p:cNvSpPr>
            <a:spLocks noGrp="1"/>
          </p:cNvSpPr>
          <p:nvPr>
            <p:ph type="sldNum" idx="5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E3EE22FB-F41F-408E-81E2-9D2B05AF01DD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27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2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2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2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5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5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5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slideLayout" Target="../slideLayouts/slideLayout5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5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5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3.png"/><Relationship Id="rId2" Type="http://schemas.openxmlformats.org/officeDocument/2006/relationships/slideLayout" Target="../slideLayouts/slideLayout5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slideLayout" Target="../slideLayouts/slideLayout5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slideLayout" Target="../slideLayouts/slideLayout5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5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52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52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slideLayout" Target="../slideLayouts/slideLayout5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40.png"/><Relationship Id="rId2" Type="http://schemas.openxmlformats.org/officeDocument/2006/relationships/slideLayout" Target="../slideLayouts/slideLayout5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slideLayout" Target="../slideLayouts/slideLayout5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/>
          </p:nvPr>
        </p:nvSpPr>
        <p:spPr>
          <a:xfrm>
            <a:off x="347400" y="4590360"/>
            <a:ext cx="556488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>
              <a:lnSpc>
                <a:spcPct val="9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67b9"/>
                </a:solidFill>
                <a:latin typeface="Barlow"/>
              </a:rPr>
              <a:t>Lineup and System Specs + Base Band LPF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30" name="PlaceHolder 2"/>
          <p:cNvSpPr>
            <a:spLocks noGrp="1"/>
          </p:cNvSpPr>
          <p:nvPr>
            <p:ph type="title"/>
          </p:nvPr>
        </p:nvSpPr>
        <p:spPr>
          <a:xfrm>
            <a:off x="347400" y="3827880"/>
            <a:ext cx="5564880" cy="6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Wideband Rx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9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C3FBF00A-0DE3-417C-92F9-E62A2A537021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7840" cy="469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Recap: Proposed Line-up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sldNum" idx="10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F08AF871-F33E-4FBB-9F73-61898115F7D1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234" name="" descr=""/>
          <p:cNvPicPr/>
          <p:nvPr/>
        </p:nvPicPr>
        <p:blipFill>
          <a:blip r:embed="rId1"/>
          <a:stretch/>
        </p:blipFill>
        <p:spPr>
          <a:xfrm>
            <a:off x="2514600" y="914400"/>
            <a:ext cx="7223760" cy="4808520"/>
          </a:xfrm>
          <a:prstGeom prst="rect">
            <a:avLst/>
          </a:prstGeom>
          <a:ln w="0">
            <a:noFill/>
          </a:ln>
        </p:spPr>
      </p:pic>
      <p:sp>
        <p:nvSpPr>
          <p:cNvPr id="235" name=""/>
          <p:cNvSpPr/>
          <p:nvPr/>
        </p:nvSpPr>
        <p:spPr>
          <a:xfrm>
            <a:off x="3200400" y="5943600"/>
            <a:ext cx="5485680" cy="456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Cascade analysis (Max gain)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7840" cy="469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Recap: Proposed Line-up 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sldNum" idx="11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6397352D-69D6-4A12-B9AE-1D646148D449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200400" y="5943600"/>
            <a:ext cx="5485680" cy="45648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  <a:ea typeface="DejaVu Sans"/>
              </a:rPr>
              <a:t>Cascade analysis (Min. gain)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39" name="" descr=""/>
          <p:cNvPicPr/>
          <p:nvPr/>
        </p:nvPicPr>
        <p:blipFill>
          <a:blip r:embed="rId1"/>
          <a:stretch/>
        </p:blipFill>
        <p:spPr>
          <a:xfrm>
            <a:off x="2232720" y="914400"/>
            <a:ext cx="7549200" cy="487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7840" cy="469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Recap: Simulation setup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1" name="PlaceHolder 2"/>
          <p:cNvSpPr>
            <a:spLocks noGrp="1"/>
          </p:cNvSpPr>
          <p:nvPr>
            <p:ph type="sldNum" idx="12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C6B832AB-F9A1-4499-82DF-07BC0A05884B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/>
          </p:nvPr>
        </p:nvSpPr>
        <p:spPr>
          <a:xfrm>
            <a:off x="355680" y="939960"/>
            <a:ext cx="11492280" cy="558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Matlab simulation uses memory-less non-linear model for RF Blocks: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	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Vo= 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1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in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+ 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2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in</a:t>
            </a:r>
            <a:r>
              <a:rPr b="0" lang="en-US" sz="2600" spc="-1682" strike="noStrike" baseline="33000">
                <a:solidFill>
                  <a:srgbClr val="000000"/>
                </a:solidFill>
                <a:latin typeface="TexMaths Symbols"/>
                <a:ea typeface="TexMaths Symbols"/>
              </a:rPr>
              <a:t> 2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+ 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3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in</a:t>
            </a:r>
            <a:r>
              <a:rPr b="0" lang="en-US" sz="2600" spc="-1682" strike="noStrike" baseline="33000">
                <a:solidFill>
                  <a:srgbClr val="000000"/>
                </a:solidFill>
                <a:latin typeface="TexMaths Symbols"/>
                <a:ea typeface="TexMaths Symbols"/>
              </a:rPr>
              <a:t> 3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RF blocks are cascaded as follows:</a:t>
            </a:r>
            <a:endParaRPr b="0" lang="en-US" sz="2600" spc="-1" strike="noStrike">
              <a:latin typeface="Arial"/>
            </a:endParaRPr>
          </a:p>
          <a:p>
            <a:pPr lvl="7" marL="3456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o_(n+1)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= 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1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o_n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+  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2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o_n</a:t>
            </a:r>
            <a:r>
              <a:rPr b="0" lang="en-US" sz="2600" spc="-1914" strike="noStrike" baseline="33000">
                <a:solidFill>
                  <a:srgbClr val="000000"/>
                </a:solidFill>
                <a:latin typeface="TexMaths Symbols"/>
                <a:ea typeface="TexMaths Symbols"/>
              </a:rPr>
              <a:t> 2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 +  α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3</a:t>
            </a:r>
            <a:r>
              <a:rPr b="0" lang="en-US" sz="2600" spc="-1" strike="noStrike">
                <a:solidFill>
                  <a:srgbClr val="000000"/>
                </a:solidFill>
                <a:latin typeface="TexMaths Symbols"/>
                <a:ea typeface="TexMaths Symbols"/>
              </a:rPr>
              <a:t>V</a:t>
            </a:r>
            <a:r>
              <a:rPr b="0" lang="en-US" sz="2600" spc="-1" strike="noStrike" baseline="-8000">
                <a:solidFill>
                  <a:srgbClr val="000000"/>
                </a:solidFill>
                <a:latin typeface="TexMaths Symbols"/>
                <a:ea typeface="TexMaths Symbols"/>
              </a:rPr>
              <a:t>o_n</a:t>
            </a:r>
            <a:r>
              <a:rPr b="0" lang="en-US" sz="2600" spc="-1914" strike="noStrike" baseline="33000">
                <a:solidFill>
                  <a:srgbClr val="000000"/>
                </a:solidFill>
                <a:latin typeface="TexMaths Symbols"/>
                <a:ea typeface="TexMaths Symbols"/>
              </a:rPr>
              <a:t> 3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For noise calculation , Friis’ equation is used.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Problem setup: 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RF BW = 400MHz , LO frequency = 1GHz, RF tone1 = 1.17GHz, RF tone2 = 1.18GHz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CW blocker: Power = -15dBm , at 1.3GHz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Blocker appears at Psens + 6dB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330120" y="330480"/>
            <a:ext cx="11517840" cy="469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Recap: Simulation setup 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4" name="PlaceHolder 2"/>
          <p:cNvSpPr>
            <a:spLocks noGrp="1"/>
          </p:cNvSpPr>
          <p:nvPr>
            <p:ph type="sldNum" idx="13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90000" rIns="0" tIns="91440" bIns="9144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E504C846-C8E6-41FD-974C-B359F8F87BCE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/>
          </p:nvPr>
        </p:nvSpPr>
        <p:spPr>
          <a:xfrm>
            <a:off x="355680" y="939960"/>
            <a:ext cx="11492280" cy="558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DC offset is assumed to be canceled completely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buNone/>
            </a:pP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Baseband Filter Specs: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Rejection at 300MHz = 25dB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OIP2 = 55dB (for filter and VGA)</a:t>
            </a:r>
            <a:br>
              <a:rPr sz="2600"/>
            </a:b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Barlow"/>
                <a:ea typeface="Calibri"/>
              </a:rPr>
              <a:t> 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Maximum peak power for ADC  = -10dBm 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Assuming PAR = 10dB → Maximum average power = -20dBm</a:t>
            </a:r>
            <a:endParaRPr b="0" lang="en-US" sz="2600" spc="-1" strike="noStrike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624"/>
              </a:spcBef>
              <a:buClr>
                <a:srgbClr val="b1b3b3"/>
              </a:buClr>
              <a:buSzPct val="65000"/>
              <a:buFont typeface="Arial"/>
              <a:buChar char="•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ADC integrated noise power (200MHz ) = -66dBm → Enob = 9bits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buNone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endParaRPr b="0" lang="en-US" sz="26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24"/>
              </a:spcBef>
              <a:buNone/>
            </a:pP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3600" spc="-100" strike="noStrike">
                <a:solidFill>
                  <a:srgbClr val="0067b9"/>
                </a:solidFill>
                <a:latin typeface="Barlow"/>
              </a:rPr>
              <a:t>Two tone test – output spectrum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685800" y="5581800"/>
            <a:ext cx="10972800" cy="819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Input power (two tones) = -50dBm (Note that this is actually double sided spectrum and BlackmanHarris window is used for FTT to reduce FTT noise floor)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48" name="" descr=""/>
          <p:cNvPicPr/>
          <p:nvPr/>
        </p:nvPicPr>
        <p:blipFill>
          <a:blip r:embed="rId1"/>
          <a:stretch/>
        </p:blipFill>
        <p:spPr>
          <a:xfrm>
            <a:off x="1600200" y="732960"/>
            <a:ext cx="8915400" cy="484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without blockers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50" name="" descr=""/>
          <p:cNvPicPr/>
          <p:nvPr/>
        </p:nvPicPr>
        <p:blipFill>
          <a:blip r:embed="rId1"/>
          <a:stretch/>
        </p:blipFill>
        <p:spPr>
          <a:xfrm>
            <a:off x="1038240" y="914400"/>
            <a:ext cx="10115280" cy="5257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GB" sz="2800" spc="-100" strike="noStrike">
                <a:solidFill>
                  <a:srgbClr val="0067b9"/>
                </a:solidFill>
                <a:latin typeface="Barlow"/>
              </a:rPr>
              <a:t>SNR, SDR and SNDR (With blocker and IP2)</a:t>
            </a:r>
            <a:endParaRPr b="0" lang="en-US" sz="2800" spc="-1" strike="noStrike">
              <a:latin typeface="Arial"/>
            </a:endParaRPr>
          </a:p>
        </p:txBody>
      </p:sp>
      <p:pic>
        <p:nvPicPr>
          <p:cNvPr id="252" name="" descr=""/>
          <p:cNvPicPr/>
          <p:nvPr/>
        </p:nvPicPr>
        <p:blipFill>
          <a:blip r:embed="rId1"/>
          <a:stretch/>
        </p:blipFill>
        <p:spPr>
          <a:xfrm>
            <a:off x="1181160" y="995760"/>
            <a:ext cx="9829800" cy="51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a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x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i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u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I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n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u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t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o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w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e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o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A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D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C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54" name="" descr=""/>
          <p:cNvPicPr/>
          <p:nvPr/>
        </p:nvPicPr>
        <p:blipFill>
          <a:blip r:embed="rId1"/>
          <a:stretch/>
        </p:blipFill>
        <p:spPr>
          <a:xfrm>
            <a:off x="1143000" y="914400"/>
            <a:ext cx="9829800" cy="51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 : First DSA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56" name="" descr=""/>
          <p:cNvPicPr/>
          <p:nvPr/>
        </p:nvPicPr>
        <p:blipFill>
          <a:blip r:embed="rId1"/>
          <a:stretch/>
        </p:blipFill>
        <p:spPr>
          <a:xfrm>
            <a:off x="1528920" y="834120"/>
            <a:ext cx="9133920" cy="4747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 : Second DSA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58" name="" descr=""/>
          <p:cNvPicPr/>
          <p:nvPr/>
        </p:nvPicPr>
        <p:blipFill>
          <a:blip r:embed="rId1"/>
          <a:stretch/>
        </p:blipFill>
        <p:spPr>
          <a:xfrm>
            <a:off x="1523880" y="962280"/>
            <a:ext cx="9144000" cy="475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Blocking: </a:t>
            </a: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VGA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60" name="" descr=""/>
          <p:cNvPicPr/>
          <p:nvPr/>
        </p:nvPicPr>
        <p:blipFill>
          <a:blip r:embed="rId1"/>
          <a:stretch/>
        </p:blipFill>
        <p:spPr>
          <a:xfrm>
            <a:off x="1271520" y="914400"/>
            <a:ext cx="9648720" cy="50151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Gain Policy Under Blocking: Total Gain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62" name="" descr=""/>
          <p:cNvPicPr/>
          <p:nvPr/>
        </p:nvPicPr>
        <p:blipFill>
          <a:blip r:embed="rId1"/>
          <a:stretch/>
        </p:blipFill>
        <p:spPr>
          <a:xfrm>
            <a:off x="1181160" y="914400"/>
            <a:ext cx="9829800" cy="510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/>
          </p:nvPr>
        </p:nvSpPr>
        <p:spPr>
          <a:xfrm>
            <a:off x="347400" y="4590360"/>
            <a:ext cx="5564880" cy="275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343080" indent="-343080">
              <a:lnSpc>
                <a:spcPct val="90000"/>
              </a:lnSpc>
              <a:spcAft>
                <a:spcPts val="400"/>
              </a:spcAft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67b9"/>
                </a:solidFill>
                <a:latin typeface="Barlow"/>
              </a:rPr>
              <a:t>Baseband LPF schematic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title"/>
          </p:nvPr>
        </p:nvSpPr>
        <p:spPr>
          <a:xfrm>
            <a:off x="347400" y="3827880"/>
            <a:ext cx="5564880" cy="66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Wid</a:t>
            </a: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eba</a:t>
            </a: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nd </a:t>
            </a:r>
            <a:r>
              <a:rPr b="0" lang="en-US" sz="4800" spc="-100" strike="noStrike">
                <a:solidFill>
                  <a:srgbClr val="555659"/>
                </a:solidFill>
                <a:latin typeface="Barlow"/>
              </a:rPr>
              <a:t>Rx</a:t>
            </a:r>
            <a:endParaRPr b="0" lang="en-US" sz="48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14"/>
          </p:nvPr>
        </p:nvSpPr>
        <p:spPr>
          <a:xfrm>
            <a:off x="10630080" y="6612840"/>
            <a:ext cx="1218240" cy="240840"/>
          </a:xfrm>
          <a:prstGeom prst="rect">
            <a:avLst/>
          </a:prstGeom>
          <a:noFill/>
          <a:ln w="0">
            <a:noFill/>
          </a:ln>
        </p:spPr>
        <p:txBody>
          <a:bodyPr lIns="182880" rIns="0" tIns="0" bIns="0" anchor="ctr">
            <a:noAutofit/>
          </a:bodyPr>
          <a:lstStyle>
            <a:lvl1pPr algn="r">
              <a:lnSpc>
                <a:spcPct val="80000"/>
              </a:lnSpc>
              <a:buNone/>
              <a:defRPr b="1" lang="en-US" sz="1000" spc="-1" strike="noStrike">
                <a:solidFill>
                  <a:srgbClr val="c1c2c4"/>
                </a:solidFill>
                <a:latin typeface="Barlow"/>
              </a:defRPr>
            </a:lvl1pPr>
          </a:lstStyle>
          <a:p>
            <a:pPr algn="r">
              <a:lnSpc>
                <a:spcPct val="80000"/>
              </a:lnSpc>
              <a:buNone/>
            </a:pPr>
            <a:fld id="{3C603369-54A1-4801-BAAB-C1F11234B6F3}" type="slidenum">
              <a:rPr b="1" lang="en-US" sz="1000" spc="-1" strike="noStrike">
                <a:solidFill>
                  <a:srgbClr val="c1c2c4"/>
                </a:solidFill>
                <a:latin typeface="Barlow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Baseband LPF specs: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First Mode: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Rejection at 300MHz = 25dB (changed later to 30dB)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0.5dB BW = 250MHz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OIP3 = 16dBm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Calibri"/>
                <a:ea typeface="Calibri"/>
              </a:rPr>
              <a:t>NF = 12dB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Calibri"/>
                <a:ea typeface="Calibri"/>
              </a:rPr>
              <a:t>Gain = 0dB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latin typeface="Calibri"/>
                <a:ea typeface="Calibri"/>
              </a:rPr>
              <a:t>Second Mode : 3dB BW = 600MHz , 0.5dB BW = 250MHz</a:t>
            </a:r>
            <a:br>
              <a:rPr sz="2600"/>
            </a:br>
            <a:r>
              <a:rPr b="0" lang="en-US" sz="2600" spc="-1" strike="noStrike">
                <a:latin typeface="Calibri"/>
              </a:rPr>
              <a:t> </a:t>
            </a:r>
            <a:endParaRPr b="0" lang="en-US" sz="26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Approximation: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5</a:t>
            </a:r>
            <a:r>
              <a:rPr b="0" lang="en-US" sz="2600" spc="-1" strike="noStrike" baseline="33000">
                <a:solidFill>
                  <a:srgbClr val="000000"/>
                </a:solidFill>
                <a:latin typeface="Calibri"/>
                <a:ea typeface="Calibri"/>
              </a:rPr>
              <a:t>th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 order Elliptic Approximation is used: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600" spc="-1" strike="noStrike">
              <a:latin typeface="Arial"/>
            </a:endParaRPr>
          </a:p>
        </p:txBody>
      </p:sp>
      <p:pic>
        <p:nvPicPr>
          <p:cNvPr id="270" name="" descr=""/>
          <p:cNvPicPr/>
          <p:nvPr/>
        </p:nvPicPr>
        <p:blipFill>
          <a:blip r:embed="rId1"/>
          <a:stretch/>
        </p:blipFill>
        <p:spPr>
          <a:xfrm>
            <a:off x="1918800" y="2347200"/>
            <a:ext cx="8354160" cy="428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Approximation: topology selection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57200" y="1371600"/>
            <a:ext cx="48006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9000"/>
          </a:bodyPr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Poles Quality factors: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8.9, 1.5,  0.5(real pole)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Since maximum Q &gt; 4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Bi-quad doesn’t have good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component sensitivity for 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high Q→ use LC ladder simulation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instead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Leap-frog implementation is </a:t>
            </a:r>
            <a:br>
              <a:rPr sz="2600"/>
            </a:b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used 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600" spc="-1" strike="noStrike">
                <a:solidFill>
                  <a:srgbClr val="000000"/>
                </a:solidFill>
                <a:latin typeface="Calibri"/>
                <a:ea typeface="Calibri"/>
              </a:rPr>
              <a:t>GM-C implementation is chosen for high BW</a:t>
            </a:r>
            <a:endParaRPr b="0" lang="en-US" sz="2600" spc="-1" strike="noStrike"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2600" spc="-1" strike="noStrike">
              <a:latin typeface="Arial"/>
            </a:endParaRPr>
          </a:p>
        </p:txBody>
      </p:sp>
      <p:pic>
        <p:nvPicPr>
          <p:cNvPr id="273" name="" descr=""/>
          <p:cNvPicPr/>
          <p:nvPr/>
        </p:nvPicPr>
        <p:blipFill>
          <a:blip r:embed="rId1"/>
          <a:stretch/>
        </p:blipFill>
        <p:spPr>
          <a:xfrm>
            <a:off x="5051520" y="1418400"/>
            <a:ext cx="6835680" cy="3853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Behavioral Modeling: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75" name="" descr=""/>
          <p:cNvPicPr/>
          <p:nvPr/>
        </p:nvPicPr>
        <p:blipFill>
          <a:blip r:embed="rId1"/>
          <a:stretch/>
        </p:blipFill>
        <p:spPr>
          <a:xfrm>
            <a:off x="609120" y="2041560"/>
            <a:ext cx="10972440" cy="3103200"/>
          </a:xfrm>
          <a:prstGeom prst="rect">
            <a:avLst/>
          </a:prstGeom>
          <a:ln w="0">
            <a:noFill/>
          </a:ln>
        </p:spPr>
      </p:pic>
      <p:sp>
        <p:nvSpPr>
          <p:cNvPr id="276" name=""/>
          <p:cNvSpPr/>
          <p:nvPr/>
        </p:nvSpPr>
        <p:spPr>
          <a:xfrm>
            <a:off x="2095560" y="5486400"/>
            <a:ext cx="80010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Note: Actual filter is differential , this is just a behavior model for SLICAP simulation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Lossy integrator: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Doing some iterations required GM-cell gain can’t be less </a:t>
            </a:r>
            <a:r>
              <a:rPr b="0" lang="en-US" sz="3200" spc="-1" strike="noStrike">
                <a:latin typeface="Arial"/>
              </a:rPr>
              <a:t>than 200 → AV is chosen to be 250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Losses Mapping is required to determine C/gm.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Losses mapping is done with SLICAP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Losses Mapping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80" name="" descr=""/>
          <p:cNvPicPr/>
          <p:nvPr/>
        </p:nvPicPr>
        <p:blipFill>
          <a:blip r:embed="rId1"/>
          <a:stretch/>
        </p:blipFill>
        <p:spPr>
          <a:xfrm>
            <a:off x="228600" y="1143000"/>
            <a:ext cx="5486400" cy="3981240"/>
          </a:xfrm>
          <a:prstGeom prst="rect">
            <a:avLst/>
          </a:prstGeom>
          <a:ln w="0">
            <a:noFill/>
          </a:ln>
        </p:spPr>
      </p:pic>
      <p:pic>
        <p:nvPicPr>
          <p:cNvPr id="281" name="" descr=""/>
          <p:cNvPicPr/>
          <p:nvPr/>
        </p:nvPicPr>
        <p:blipFill>
          <a:blip r:embed="rId2"/>
          <a:stretch/>
        </p:blipFill>
        <p:spPr>
          <a:xfrm>
            <a:off x="6172200" y="1371600"/>
            <a:ext cx="5413680" cy="3646080"/>
          </a:xfrm>
          <a:prstGeom prst="rect">
            <a:avLst/>
          </a:prstGeom>
          <a:ln w="0">
            <a:noFill/>
          </a:ln>
        </p:spPr>
      </p:pic>
      <p:sp>
        <p:nvSpPr>
          <p:cNvPr id="282" name=""/>
          <p:cNvSpPr/>
          <p:nvPr/>
        </p:nvSpPr>
        <p:spPr>
          <a:xfrm>
            <a:off x="1371600" y="5257800"/>
            <a:ext cx="36576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With losses mapping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3" name=""/>
          <p:cNvSpPr/>
          <p:nvPr/>
        </p:nvSpPr>
        <p:spPr>
          <a:xfrm>
            <a:off x="7086600" y="5257800"/>
            <a:ext cx="36576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Without losses mapping 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Losses Mapping (Normalized PZ-map)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1371600" y="5257800"/>
            <a:ext cx="36576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With losses mapping 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86" name=""/>
          <p:cNvSpPr/>
          <p:nvPr/>
        </p:nvSpPr>
        <p:spPr>
          <a:xfrm>
            <a:off x="7086600" y="5257800"/>
            <a:ext cx="36576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Without losses mapping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87" name="" descr=""/>
          <p:cNvPicPr/>
          <p:nvPr/>
        </p:nvPicPr>
        <p:blipFill>
          <a:blip r:embed="rId1"/>
          <a:stretch/>
        </p:blipFill>
        <p:spPr>
          <a:xfrm>
            <a:off x="0" y="1143000"/>
            <a:ext cx="6172200" cy="4110840"/>
          </a:xfrm>
          <a:prstGeom prst="rect">
            <a:avLst/>
          </a:prstGeom>
          <a:ln w="0">
            <a:noFill/>
          </a:ln>
        </p:spPr>
      </p:pic>
      <p:pic>
        <p:nvPicPr>
          <p:cNvPr id="288" name="" descr=""/>
          <p:cNvPicPr/>
          <p:nvPr/>
        </p:nvPicPr>
        <p:blipFill>
          <a:blip r:embed="rId2"/>
          <a:stretch/>
        </p:blipFill>
        <p:spPr>
          <a:xfrm>
            <a:off x="6172200" y="1143000"/>
            <a:ext cx="6019920" cy="4064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Losses Mapping (pole-zero map)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0" name=""/>
          <p:cNvSpPr/>
          <p:nvPr/>
        </p:nvSpPr>
        <p:spPr>
          <a:xfrm>
            <a:off x="4343400" y="5715000"/>
            <a:ext cx="3657600" cy="4572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 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>
            <a:off x="952560" y="709200"/>
            <a:ext cx="10287000" cy="4872600"/>
          </a:xfrm>
          <a:prstGeom prst="rect">
            <a:avLst/>
          </a:prstGeom>
          <a:ln w="0">
            <a:noFill/>
          </a:ln>
        </p:spPr>
      </p:pic>
      <p:sp>
        <p:nvSpPr>
          <p:cNvPr id="292" name=""/>
          <p:cNvSpPr/>
          <p:nvPr/>
        </p:nvSpPr>
        <p:spPr>
          <a:xfrm>
            <a:off x="609480" y="5581800"/>
            <a:ext cx="10972800" cy="8190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v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w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z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’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b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z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,</a:t>
            </a:r>
            <a:r>
              <a:rPr b="0" lang="en-US" sz="1800" spc="-1" strike="noStrike">
                <a:latin typeface="Arial"/>
              </a:rPr>
              <a:t>f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’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v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.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More Optimized Response: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294" name="" descr=""/>
          <p:cNvPicPr/>
          <p:nvPr/>
        </p:nvPicPr>
        <p:blipFill>
          <a:blip r:embed="rId1"/>
          <a:stretch/>
        </p:blipFill>
        <p:spPr>
          <a:xfrm>
            <a:off x="1409760" y="626040"/>
            <a:ext cx="9372600" cy="4955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Required C/gm: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C₁: 6.635e-10, C₂: 9.054e-10,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 C₃: 2.1e-10, C₄: 7.062-10, 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 C₅: 4.169e-10,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 L₁  : 6.317e-10, L₂: 3.615e-10.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This values are divided by GM of the GM-cell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Impelementation: Specs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2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1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NF = 12dB → integrated output noise = 99uV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br>
              <a:rPr sz="3200"/>
            </a:br>
            <a:br>
              <a:rPr sz="3200"/>
            </a:b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IIP3dBV = IIP3dBm – 10 = 6dBV (peak)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IP2dBV = 45dBV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299" name="" descr=""/>
          <p:cNvPicPr/>
          <p:nvPr/>
        </p:nvPicPr>
        <p:blipFill>
          <a:blip r:embed="rId1"/>
          <a:stretch/>
        </p:blipFill>
        <p:spPr>
          <a:xfrm>
            <a:off x="2210760" y="2331360"/>
            <a:ext cx="6704640" cy="1931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Proposed GM-cell: (Two stages)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01" name="" descr=""/>
          <p:cNvPicPr/>
          <p:nvPr/>
        </p:nvPicPr>
        <p:blipFill>
          <a:blip r:embed="rId1"/>
          <a:stretch/>
        </p:blipFill>
        <p:spPr>
          <a:xfrm>
            <a:off x="2331360" y="1604520"/>
            <a:ext cx="7528320" cy="3977280"/>
          </a:xfrm>
          <a:prstGeom prst="rect">
            <a:avLst/>
          </a:prstGeom>
          <a:ln w="0">
            <a:noFill/>
          </a:ln>
        </p:spPr>
      </p:pic>
      <p:sp>
        <p:nvSpPr>
          <p:cNvPr id="302" name=""/>
          <p:cNvSpPr/>
          <p:nvPr/>
        </p:nvSpPr>
        <p:spPr>
          <a:xfrm>
            <a:off x="2286000" y="5715000"/>
            <a:ext cx="77724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Notes : VDD = 1.6V ,Current mirrors and common mode feed back isn’t </a:t>
            </a:r>
            <a:r>
              <a:rPr b="0" lang="en-US" sz="1800" spc="-1" strike="noStrike">
                <a:latin typeface="Arial"/>
              </a:rPr>
              <a:t>done yet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intial results:</a:t>
            </a:r>
            <a:endParaRPr b="0" lang="en-US" sz="3600" spc="-1" strike="noStrike">
              <a:latin typeface="Arial"/>
            </a:endParaRPr>
          </a:p>
        </p:txBody>
      </p:sp>
      <p:pic>
        <p:nvPicPr>
          <p:cNvPr id="304" name="" descr=""/>
          <p:cNvPicPr/>
          <p:nvPr/>
        </p:nvPicPr>
        <p:blipFill>
          <a:blip r:embed="rId1"/>
          <a:stretch/>
        </p:blipFill>
        <p:spPr>
          <a:xfrm>
            <a:off x="553680" y="773280"/>
            <a:ext cx="10876320" cy="4808520"/>
          </a:xfrm>
          <a:prstGeom prst="rect">
            <a:avLst/>
          </a:prstGeom>
          <a:ln w="0">
            <a:noFill/>
          </a:ln>
        </p:spPr>
      </p:pic>
      <p:sp>
        <p:nvSpPr>
          <p:cNvPr id="305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F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q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y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: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w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k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2</a:t>
            </a:r>
            <a:r>
              <a:rPr b="0" lang="en-US" sz="1800" spc="-1" strike="noStrike">
                <a:latin typeface="Arial"/>
              </a:rPr>
              <a:t>4</a:t>
            </a:r>
            <a:r>
              <a:rPr b="0" lang="en-US" sz="1800" spc="-1" strike="noStrike">
                <a:latin typeface="Arial"/>
              </a:rPr>
              <a:t>0</a:t>
            </a:r>
            <a:r>
              <a:rPr b="0" lang="en-US" sz="1800" spc="-1" strike="noStrike">
                <a:latin typeface="Arial"/>
              </a:rPr>
              <a:t>M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z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intial results: (cont.)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Peaking is probably caused by this stage,because it has no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external capacitors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08" name="" descr=""/>
          <p:cNvPicPr/>
          <p:nvPr/>
        </p:nvPicPr>
        <p:blipFill>
          <a:blip r:embed="rId1"/>
          <a:stretch/>
        </p:blipFill>
        <p:spPr>
          <a:xfrm>
            <a:off x="6231600" y="1706760"/>
            <a:ext cx="5354280" cy="3772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results :Temporary solution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79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Adding Passive RC section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before the filter, can reduce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this peaking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Also can serve as the other mode of the filter (3dB BW=600MHz)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But it produces noise and losses 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Also it’s very sensitive to parasitics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 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11" name="" descr=""/>
          <p:cNvPicPr/>
          <p:nvPr/>
        </p:nvPicPr>
        <p:blipFill>
          <a:blip r:embed="rId1"/>
          <a:stretch/>
        </p:blipFill>
        <p:spPr>
          <a:xfrm>
            <a:off x="7264440" y="1604520"/>
            <a:ext cx="3288960" cy="397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results after RC-section: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k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g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b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l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r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,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a</a:t>
            </a:r>
            <a:r>
              <a:rPr b="0" lang="en-US" sz="1800" spc="-1" strike="noStrike">
                <a:latin typeface="Arial"/>
              </a:rPr>
              <a:t>c</a:t>
            </a:r>
            <a:r>
              <a:rPr b="0" lang="en-US" sz="1800" spc="-1" strike="noStrike">
                <a:latin typeface="Arial"/>
              </a:rPr>
              <a:t>h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v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d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p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t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n</a:t>
            </a:r>
            <a:r>
              <a:rPr b="0" lang="en-US" sz="1800" spc="-1" strike="noStrike">
                <a:latin typeface="Arial"/>
              </a:rPr>
              <a:t>o</a:t>
            </a:r>
            <a:r>
              <a:rPr b="0" lang="en-US" sz="1800" spc="-1" strike="noStrike">
                <a:latin typeface="Arial"/>
              </a:rPr>
              <a:t>i</a:t>
            </a:r>
            <a:r>
              <a:rPr b="0" lang="en-US" sz="1800" spc="-1" strike="noStrike">
                <a:latin typeface="Arial"/>
              </a:rPr>
              <a:t>s</a:t>
            </a:r>
            <a:r>
              <a:rPr b="0" lang="en-US" sz="1800" spc="-1" strike="noStrike">
                <a:latin typeface="Arial"/>
              </a:rPr>
              <a:t>e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=</a:t>
            </a:r>
            <a:r>
              <a:rPr b="0" lang="en-US" sz="1800" spc="-1" strike="noStrike">
                <a:latin typeface="Arial"/>
              </a:rPr>
              <a:t> </a:t>
            </a:r>
            <a:r>
              <a:rPr b="0" lang="en-US" sz="1800" spc="-1" strike="noStrike">
                <a:latin typeface="Arial"/>
              </a:rPr>
              <a:t>9</a:t>
            </a:r>
            <a:r>
              <a:rPr b="0" lang="en-US" sz="1800" spc="-1" strike="noStrike">
                <a:latin typeface="Arial"/>
              </a:rPr>
              <a:t>6</a:t>
            </a:r>
            <a:r>
              <a:rPr b="0" lang="en-US" sz="1800" spc="-1" strike="noStrike">
                <a:latin typeface="Arial"/>
              </a:rPr>
              <a:t>u</a:t>
            </a:r>
            <a:r>
              <a:rPr b="0" lang="en-US" sz="1800" spc="-1" strike="noStrike">
                <a:latin typeface="Arial"/>
              </a:rPr>
              <a:t>V</a:t>
            </a:r>
            <a:r>
              <a:rPr b="0" lang="en-US" sz="1800" spc="-1" strike="noStrike">
                <a:latin typeface="Arial"/>
              </a:rPr>
              <a:t> 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314" name="" descr=""/>
          <p:cNvPicPr/>
          <p:nvPr/>
        </p:nvPicPr>
        <p:blipFill>
          <a:blip r:embed="rId1"/>
          <a:stretch/>
        </p:blipFill>
        <p:spPr>
          <a:xfrm>
            <a:off x="1578960" y="1604520"/>
            <a:ext cx="9033120" cy="397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Schematic and Test bench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6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317" name="" descr=""/>
          <p:cNvPicPr/>
          <p:nvPr/>
        </p:nvPicPr>
        <p:blipFill>
          <a:blip r:embed="rId1"/>
          <a:stretch/>
        </p:blipFill>
        <p:spPr>
          <a:xfrm>
            <a:off x="609120" y="1846800"/>
            <a:ext cx="10972440" cy="3492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Filter Results summary (till now):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19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PlaceHolder 2"/>
          <p:cNvSpPr>
            <a:spLocks noGrp="1"/>
          </p:cNvSpPr>
          <p:nvPr>
            <p:ph/>
          </p:nvPr>
        </p:nvSpPr>
        <p:spPr>
          <a:xfrm>
            <a:off x="609120" y="1846800"/>
            <a:ext cx="10972440" cy="349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Output noise= 96uV (NF =11.7dB) &lt; 99u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Power Consumption = 100.8mA*1.6 = 161.28mW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OIP3 = -11dBV (Problem)</a:t>
            </a: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Linearity Problem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2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6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Internal node of the filter shows larger peaking,which degrades linearity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Also for the second stage of the GM-cell the swing is limited (maybe using PMOS as input pair is better here)</a:t>
            </a:r>
            <a:endParaRPr b="0" lang="en-US" sz="3200" spc="-1" strike="noStrike">
              <a:latin typeface="Arial"/>
            </a:endParaRPr>
          </a:p>
        </p:txBody>
      </p:sp>
      <p:pic>
        <p:nvPicPr>
          <p:cNvPr id="324" name="" descr=""/>
          <p:cNvPicPr/>
          <p:nvPr/>
        </p:nvPicPr>
        <p:blipFill>
          <a:blip r:embed="rId1"/>
          <a:stretch/>
        </p:blipFill>
        <p:spPr>
          <a:xfrm>
            <a:off x="6231600" y="2411280"/>
            <a:ext cx="5354280" cy="236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50760">
            <a:noFill/>
          </a:ln>
        </p:spPr>
        <p:txBody>
          <a:bodyPr lIns="0" rIns="0" tIns="0" bIns="2736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-US" sz="3600" spc="-100" strike="noStrike">
                <a:solidFill>
                  <a:srgbClr val="0067b9"/>
                </a:solidFill>
                <a:latin typeface="Barlow"/>
              </a:rPr>
              <a:t>What’s to be done</a:t>
            </a:r>
            <a:endParaRPr b="0" lang="en-US" sz="3600" spc="-1" strike="noStrike">
              <a:latin typeface="Arial"/>
            </a:endParaRPr>
          </a:p>
        </p:txBody>
      </p:sp>
      <p:sp>
        <p:nvSpPr>
          <p:cNvPr id="326" name=""/>
          <p:cNvSpPr/>
          <p:nvPr/>
        </p:nvSpPr>
        <p:spPr>
          <a:xfrm>
            <a:off x="2743200" y="5715000"/>
            <a:ext cx="7315200" cy="68580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3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Modify GM-cell to achieve IP3 spec and to eliminate peaking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CM and CMFB implementation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Getting all the results across corners:</a:t>
            </a:r>
            <a:br>
              <a:rPr sz="3200"/>
            </a:br>
            <a:r>
              <a:rPr b="0" lang="en-US" sz="3200" spc="-1" strike="noStrike">
                <a:latin typeface="Arial"/>
              </a:rPr>
              <a:t>BW,GD,NF,IP3 and IP2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Starting Layout</a:t>
            </a:r>
            <a:endParaRPr b="0" lang="en-US" sz="3200" spc="-1" strike="noStrike">
              <a:latin typeface="Arial"/>
            </a:endParaRPr>
          </a:p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endParaRPr b="0" lang="en-US" sz="3200" spc="-1" strike="noStrike">
              <a:latin typeface="Arial"/>
            </a:endParaRPr>
          </a:p>
        </p:txBody>
      </p:sp>
    </p:spTree>
  </p:cSld>
  <mc:AlternateContent>
    <mc:Choice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7793002754FD4588A86BC18990FF4C" ma:contentTypeVersion="10" ma:contentTypeDescription="Create a new document." ma:contentTypeScope="" ma:versionID="86730a3902089f8f2e94474e1128496b">
  <xsd:schema xmlns:xsd="http://www.w3.org/2001/XMLSchema" xmlns:xs="http://www.w3.org/2001/XMLSchema" xmlns:p="http://schemas.microsoft.com/office/2006/metadata/properties" xmlns:ns2="4d3cf74c-36c4-4459-8a3d-6b74e4736aa9" xmlns:ns3="a859eca7-4cc5-48ee-9b07-5e32602d6b05" targetNamespace="http://schemas.microsoft.com/office/2006/metadata/properties" ma:root="true" ma:fieldsID="30a91c0dc38995aa3d07752e3cd89cb5" ns2:_="" ns3:_="">
    <xsd:import namespace="4d3cf74c-36c4-4459-8a3d-6b74e4736aa9"/>
    <xsd:import namespace="a859eca7-4cc5-48ee-9b07-5e32602d6b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cf74c-36c4-4459-8a3d-6b74e4736a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845de00c-9d84-443a-8c85-ac82572830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9eca7-4cc5-48ee-9b07-5e32602d6b05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237fb65e-48ce-4692-890d-38a6e0b20e6b}" ma:internalName="TaxCatchAll" ma:showField="CatchAllData" ma:web="a859eca7-4cc5-48ee-9b07-5e32602d6b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8E7F63D-C9F9-4902-8EFE-A8A7396FB0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3cf74c-36c4-4459-8a3d-6b74e4736aa9"/>
    <ds:schemaRef ds:uri="a859eca7-4cc5-48ee-9b07-5e32602d6b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EF60AAF-A9E4-4FFF-ACD1-FEC5D28C26E6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aa689b4-8f87-40e0-9c6f-7228de4d754a}" enabled="0" method="" siteId="{eaa689b4-8f87-40e0-9c6f-7228de4d75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ADI Corporate PowerPoint Template</Template>
  <TotalTime>38892</TotalTime>
  <Application>LibreOffice/7.3.7.2$Linux_X86_64 LibreOffice_project/30$Build-2</Application>
  <AppVersion>15.0000</AppVersion>
  <Words>316</Words>
  <Paragraphs>86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2022-10-11T08:02:46Z</dcterms:created>
  <dc:creator>Haridy, Omar</dc:creator>
  <dc:description>ADI PowerPoint v.9 © 2022 Analog Devices, Inc. All Rights Reserved</dc:description>
  <dc:language>en-US</dc:language>
  <cp:lastModifiedBy/>
  <cp:lastPrinted>2015-04-02T14:52:35Z</cp:lastPrinted>
  <dcterms:modified xsi:type="dcterms:W3CDTF">2026-04-15T03:27:58Z</dcterms:modified>
  <cp:revision>364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10</vt:r8>
  </property>
  <property fmtid="{D5CDD505-2E9C-101B-9397-08002B2CF9AE}" pid="3" name="PresentationFormat">
    <vt:lpwstr>Widescreen</vt:lpwstr>
  </property>
  <property fmtid="{D5CDD505-2E9C-101B-9397-08002B2CF9AE}" pid="4" name="Slides">
    <vt:r8>13</vt:r8>
  </property>
</Properties>
</file>
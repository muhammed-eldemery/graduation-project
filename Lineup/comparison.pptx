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docMetadata/LabelInfo.xml" ContentType="application/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_rels/presentation.xml.rels" ContentType="application/vnd.openxmlformats-package.relationships+xml"/>
  <Override PartName="/ppt/media/image29.png" ContentType="image/png"/>
  <Override PartName="/ppt/media/image2.wmf" ContentType="image/x-wmf"/>
  <Override PartName="/ppt/media/image27.png" ContentType="image/png"/>
  <Override PartName="/ppt/media/image4.png" ContentType="image/png"/>
  <Override PartName="/ppt/media/image28.png" ContentType="image/png"/>
  <Override PartName="/ppt/media/image5.png" ContentType="image/png"/>
  <Override PartName="/ppt/media/image30.png" ContentType="image/png"/>
  <Override PartName="/ppt/media/image10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7.png" ContentType="image/png"/>
  <Override PartName="/ppt/media/image12.png" ContentType="image/png"/>
  <Override PartName="/ppt/media/image6.wmf" ContentType="image/x-wmf"/>
  <Override PartName="/ppt/media/image11.png" ContentType="image/png"/>
  <Override PartName="/ppt/media/image3.png" ContentType="image/png"/>
  <Override PartName="/ppt/media/image26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5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microsoft.com/office/2020/02/relationships/classificationlabels" Target="docMetadata/LabelInfo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7010400" cy="9296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4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95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04C7F4C-C449-460D-83CB-D409E94A3D5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9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2E3AFA-2E55-4872-B280-1F583A2CCB10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20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2ED229F-610D-4F46-8BDC-B4F5E8CBBC5A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21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99A95F-10BF-4DC2-836B-DCA500AB3FE8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22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D73E53-2CAA-42C6-9C2A-336B8339817C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23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E7DA6DE-4F76-48CF-869A-91C54929D276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24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C7779C4-C34A-4CA9-82D8-907C7AFBA754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25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F4758E6-5F95-4620-9FF9-6462FD8F417E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26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5D865E-74A3-4AA9-A6AA-21708FD81167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27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6FF7BFF-CF4A-471D-8754-B80DB5B301B2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28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4E29B1-D039-4C6D-948E-8FFFDDFA387A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29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D050770-955A-488E-A9D1-9A994E7C6876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30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8CC26B-BA59-42E1-B04B-95C7A63AF19A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31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FE628FB-232B-4CAF-B82B-04BB17D7FDF9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32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CB956FD-CD07-4B80-AAC6-877F348FC502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7400" cy="348588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33"/>
          </p:nvPr>
        </p:nvSpPr>
        <p:spPr>
          <a:xfrm>
            <a:off x="6309360" y="8830080"/>
            <a:ext cx="699120" cy="46440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E2A168-BD51-49BA-88FC-D440D294D74E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F55F371-6A76-4DC4-9BCE-672101A3C04D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355680" y="939960"/>
            <a:ext cx="1149300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2C13A9E-C90B-4CD4-8735-C4484883F95C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1149300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F375EEB-380E-4BBE-8B2B-A08A39B778FB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560844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44920" y="939960"/>
            <a:ext cx="560844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AB1F7B3-9E61-4A89-8E0F-56EA4F2D2F49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4CD81E8-3407-483A-857E-A4881FEE7D36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330120" y="330480"/>
            <a:ext cx="11518560" cy="54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675F99D-1C6B-4190-8841-1AC47BDBCBB4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44920" y="939960"/>
            <a:ext cx="560844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355680" y="385848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6630002-D3B2-43D7-B393-D9D8E2D686C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560844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44920" y="93996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244920" y="385848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758B722-6A6D-42FA-BD72-F2C5B576525C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44920" y="93996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355680" y="3858480"/>
            <a:ext cx="1149300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C9FA87D-0EA4-47E1-AE1D-C698AE3B8798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1149300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55680" y="3858480"/>
            <a:ext cx="1149300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E0D241D-070C-49A6-877D-EAA7D937219F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44920" y="93996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355680" y="385848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244920" y="385848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5D9BF19-5A60-4913-8E29-5E7EC63BA9F6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3700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4241520" y="939960"/>
            <a:ext cx="3700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8127360" y="939960"/>
            <a:ext cx="3700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355680" y="3858480"/>
            <a:ext cx="3700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/>
          </p:nvPr>
        </p:nvSpPr>
        <p:spPr>
          <a:xfrm>
            <a:off x="4241520" y="3858480"/>
            <a:ext cx="3700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/>
          </p:nvPr>
        </p:nvSpPr>
        <p:spPr>
          <a:xfrm>
            <a:off x="8127360" y="3858480"/>
            <a:ext cx="3700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2540206-5C43-4573-BD0B-041E082AC657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0B56B9-9259-4E98-B152-3E96F596F6BB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355680" y="939960"/>
            <a:ext cx="1149300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33FC05-B584-407D-8517-D4150D1CDAB8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1149300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E42C0F-FCA8-4506-A289-59B6598D7BDA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560844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6244920" y="939960"/>
            <a:ext cx="560844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1E9E72-69E0-4235-BA8C-1ECD7E6D2438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9C0705A-F24A-4CC2-9851-B0721E993F26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330120" y="330480"/>
            <a:ext cx="11518560" cy="543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7F38AD-CB42-44E2-9973-A5B2F5B3D65F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44920" y="939960"/>
            <a:ext cx="560844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355680" y="385848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A4E056-F4D6-4347-8FBF-AF010354E9A0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560844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44920" y="93996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244920" y="385848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69E23D-2002-48B2-9200-BBB0A892E287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44920" y="93996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355680" y="3858480"/>
            <a:ext cx="1149300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8C5FEF-BD84-468B-B1A1-5E86E5C15099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1149300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5680" y="3858480"/>
            <a:ext cx="1149300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EEB9E9C-0F92-4121-889C-76D67B47E9D1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6244920" y="93996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355680" y="385848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6244920" y="3858480"/>
            <a:ext cx="5608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EDCC62-2F28-45C0-864F-8895B2B7D9A7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3700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241520" y="939960"/>
            <a:ext cx="3700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8127360" y="939960"/>
            <a:ext cx="3700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355680" y="3858480"/>
            <a:ext cx="3700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4241520" y="3858480"/>
            <a:ext cx="3700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8127360" y="3858480"/>
            <a:ext cx="3700440" cy="26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0AB71E-4FCB-4D5F-984F-6FE45BE5380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wmf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Relationship Id="rId9" Type="http://schemas.openxmlformats.org/officeDocument/2006/relationships/slideLayout" Target="../slideLayouts/slideLayout4.xml"/><Relationship Id="rId10" Type="http://schemas.openxmlformats.org/officeDocument/2006/relationships/slideLayout" Target="../slideLayouts/slideLayout5.xml"/><Relationship Id="rId11" Type="http://schemas.openxmlformats.org/officeDocument/2006/relationships/slideLayout" Target="../slideLayouts/slideLayout6.xml"/><Relationship Id="rId12" Type="http://schemas.openxmlformats.org/officeDocument/2006/relationships/slideLayout" Target="../slideLayouts/slideLayout7.xml"/><Relationship Id="rId13" Type="http://schemas.openxmlformats.org/officeDocument/2006/relationships/slideLayout" Target="../slideLayouts/slideLayout8.xml"/><Relationship Id="rId14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5.png"/><Relationship Id="rId3" Type="http://schemas.openxmlformats.org/officeDocument/2006/relationships/image" Target="../media/image6.wmf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50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1" descr=""/>
          <p:cNvPicPr/>
          <p:nvPr/>
        </p:nvPicPr>
        <p:blipFill>
          <a:blip r:embed="rId3"/>
          <a:stretch/>
        </p:blipFill>
        <p:spPr>
          <a:xfrm>
            <a:off x="10919520" y="236160"/>
            <a:ext cx="991440" cy="398160"/>
          </a:xfrm>
          <a:prstGeom prst="rect">
            <a:avLst/>
          </a:prstGeom>
          <a:ln w="0">
            <a:noFill/>
          </a:ln>
        </p:spPr>
      </p:pic>
      <p:sp>
        <p:nvSpPr>
          <p:cNvPr id="1" name="Rectangle 19" hidden="1"/>
          <p:cNvSpPr/>
          <p:nvPr/>
        </p:nvSpPr>
        <p:spPr>
          <a:xfrm>
            <a:off x="0" y="6606720"/>
            <a:ext cx="10629360" cy="250920"/>
          </a:xfrm>
          <a:prstGeom prst="rect">
            <a:avLst/>
          </a:prstGeom>
          <a:gradFill rotWithShape="0">
            <a:gsLst>
              <a:gs pos="10000">
                <a:srgbClr val="0067b9"/>
              </a:gs>
              <a:gs pos="100000">
                <a:srgbClr val="41b6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TextBox 4" hidden="1"/>
          <p:cNvSpPr/>
          <p:nvPr/>
        </p:nvSpPr>
        <p:spPr>
          <a:xfrm>
            <a:off x="2193480" y="286056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TextBox 1"/>
          <p:cNvSpPr/>
          <p:nvPr/>
        </p:nvSpPr>
        <p:spPr>
          <a:xfrm>
            <a:off x="23045760" y="192888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" name="Graphic 20" descr=""/>
          <p:cNvPicPr/>
          <p:nvPr/>
        </p:nvPicPr>
        <p:blipFill>
          <a:blip r:embed="rId4"/>
          <a:srcRect l="983" t="31367" r="520" b="18340"/>
          <a:stretch/>
        </p:blipFill>
        <p:spPr>
          <a:xfrm>
            <a:off x="0" y="-5040"/>
            <a:ext cx="12191760" cy="6862680"/>
          </a:xfrm>
          <a:prstGeom prst="rect">
            <a:avLst/>
          </a:prstGeom>
          <a:ln w="0">
            <a:noFill/>
          </a:ln>
        </p:spPr>
      </p:pic>
      <p:sp>
        <p:nvSpPr>
          <p:cNvPr id="5" name="Rectangle 21"/>
          <p:cNvSpPr/>
          <p:nvPr/>
        </p:nvSpPr>
        <p:spPr>
          <a:xfrm>
            <a:off x="0" y="-5040"/>
            <a:ext cx="6095520" cy="686268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" name="TextBox 22"/>
          <p:cNvSpPr/>
          <p:nvPr/>
        </p:nvSpPr>
        <p:spPr>
          <a:xfrm>
            <a:off x="9300240" y="41256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" name="Picture 16" descr=""/>
          <p:cNvPicPr/>
          <p:nvPr/>
        </p:nvPicPr>
        <p:blipFill>
          <a:blip r:embed="rId5"/>
          <a:stretch/>
        </p:blipFill>
        <p:spPr>
          <a:xfrm>
            <a:off x="347400" y="412200"/>
            <a:ext cx="1545840" cy="62352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body"/>
          </p:nvPr>
        </p:nvSpPr>
        <p:spPr>
          <a:xfrm>
            <a:off x="347400" y="4590360"/>
            <a:ext cx="556560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67b9"/>
                </a:solidFill>
                <a:latin typeface="Barlow"/>
              </a:rPr>
              <a:t>Click To Add Presenter/Subheading</a:t>
            </a:r>
            <a:endParaRPr b="0" lang="en-US" sz="20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347400" y="3347280"/>
            <a:ext cx="556560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4800" spc="-100" strike="noStrike">
                <a:solidFill>
                  <a:srgbClr val="555659"/>
                </a:solidFill>
                <a:latin typeface="Barlow"/>
              </a:rPr>
              <a:t>Click to Edit</a:t>
            </a:r>
            <a:endParaRPr b="0" lang="en-US" sz="4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1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lIns="182880" rIns="0" tIns="0" bIns="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3DECB2F6-1EDA-477A-BA03-CBDBA2EB791A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1" descr=""/>
          <p:cNvPicPr/>
          <p:nvPr/>
        </p:nvPicPr>
        <p:blipFill>
          <a:blip r:embed="rId3"/>
          <a:stretch/>
        </p:blipFill>
        <p:spPr>
          <a:xfrm>
            <a:off x="10919520" y="236160"/>
            <a:ext cx="991440" cy="398160"/>
          </a:xfrm>
          <a:prstGeom prst="rect">
            <a:avLst/>
          </a:prstGeom>
          <a:ln w="0">
            <a:noFill/>
          </a:ln>
        </p:spPr>
      </p:pic>
      <p:sp>
        <p:nvSpPr>
          <p:cNvPr id="48" name="Rectangle 19" hidden="1"/>
          <p:cNvSpPr/>
          <p:nvPr/>
        </p:nvSpPr>
        <p:spPr>
          <a:xfrm>
            <a:off x="0" y="6606720"/>
            <a:ext cx="10629360" cy="250920"/>
          </a:xfrm>
          <a:prstGeom prst="rect">
            <a:avLst/>
          </a:prstGeom>
          <a:gradFill rotWithShape="0">
            <a:gsLst>
              <a:gs pos="10000">
                <a:srgbClr val="0067b9"/>
              </a:gs>
              <a:gs pos="100000">
                <a:srgbClr val="41b6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Box 4" hidden="1"/>
          <p:cNvSpPr/>
          <p:nvPr/>
        </p:nvSpPr>
        <p:spPr>
          <a:xfrm>
            <a:off x="2193480" y="286056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PlaceHolder 1"/>
          <p:cNvSpPr>
            <a:spLocks noGrp="1"/>
          </p:cNvSpPr>
          <p:nvPr>
            <p:ph type="body"/>
          </p:nvPr>
        </p:nvSpPr>
        <p:spPr>
          <a:xfrm>
            <a:off x="355680" y="939960"/>
            <a:ext cx="1149300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Barlow"/>
              </a:rPr>
              <a:t>Click to edit the outline text format</a:t>
            </a: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Barlow"/>
              </a:rPr>
              <a:t>Second Outline Level</a:t>
            </a: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Barlow"/>
              </a:rPr>
              <a:t>Third Outline Level</a:t>
            </a: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Barlow"/>
              </a:rPr>
              <a:t>Fourth Outline Level</a:t>
            </a: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Barlow"/>
              </a:rPr>
              <a:t>Fifth Outline Level</a:t>
            </a: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Barlow"/>
              </a:rPr>
              <a:t>Sixth Outline Level</a:t>
            </a: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Barlow"/>
              </a:rPr>
              <a:t>Seventh Outline Level</a:t>
            </a: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51" name="TextBox 1"/>
          <p:cNvSpPr/>
          <p:nvPr/>
        </p:nvSpPr>
        <p:spPr>
          <a:xfrm>
            <a:off x="12056400" y="155772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Click to Edit</a:t>
            </a:r>
            <a:endParaRPr b="0" lang="en-US" sz="3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3DF0B5DB-4F26-4E39-A39B-0464398BED67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/>
          </p:nvPr>
        </p:nvSpPr>
        <p:spPr>
          <a:xfrm>
            <a:off x="347400" y="4590360"/>
            <a:ext cx="5565600" cy="27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>
              <a:lnSpc>
                <a:spcPct val="9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67b9"/>
                </a:solidFill>
                <a:latin typeface="Barlow"/>
              </a:rPr>
              <a:t>Lineup and System Specs</a:t>
            </a:r>
            <a:endParaRPr b="0" lang="en-US" sz="20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347400" y="3827880"/>
            <a:ext cx="5565600" cy="6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pc="-100" strike="noStrike">
                <a:solidFill>
                  <a:srgbClr val="555659"/>
                </a:solidFill>
                <a:latin typeface="Barlow"/>
              </a:rPr>
              <a:t>Wideband Rx</a:t>
            </a:r>
            <a:endParaRPr b="0" lang="en-US" sz="4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6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lIns="182880" rIns="0" tIns="0" bIns="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2BA9673F-9D4C-4240-99C9-2CBF54F9A162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470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3600" spc="-100" strike="noStrike">
                <a:solidFill>
                  <a:srgbClr val="0067b9"/>
                </a:solidFill>
                <a:latin typeface="Barlow"/>
              </a:rPr>
              <a:t>Previous points of </a:t>
            </a:r>
            <a:r>
              <a:rPr b="0" lang="en-GB" sz="3600" spc="-100" strike="noStrike">
                <a:solidFill>
                  <a:srgbClr val="0067b9"/>
                </a:solidFill>
                <a:latin typeface="Barlow"/>
              </a:rPr>
              <a:t>discussion</a:t>
            </a:r>
            <a:endParaRPr b="0" lang="en-US" sz="3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ldNum" idx="7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F429F52A-0DA0-4D85-B140-118B428D36B2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355680" y="939960"/>
            <a:ext cx="1149300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DC cancellation (Zero DC for now)</a:t>
            </a: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Filter Specs:</a:t>
            </a: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Rejection at 300MHz = 25dB</a:t>
            </a: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OIP2 = 55dB (for filter and VGA)</a:t>
            </a:r>
            <a:br>
              <a:rPr sz="2600"/>
            </a:br>
            <a:br>
              <a:rPr sz="2600"/>
            </a:b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Blocker at Psens + 6dB</a:t>
            </a: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br>
              <a:rPr sz="2600"/>
            </a:b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Effect of increasing Enob of ADC on SNDR  </a:t>
            </a: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470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3600" spc="-100" strike="noStrike">
                <a:solidFill>
                  <a:srgbClr val="0067b9"/>
                </a:solidFill>
                <a:latin typeface="Barlow"/>
              </a:rPr>
              <a:t>Previ</a:t>
            </a:r>
            <a:r>
              <a:rPr b="0" lang="en-GB" sz="3600" spc="-100" strike="noStrike">
                <a:solidFill>
                  <a:srgbClr val="0067b9"/>
                </a:solidFill>
                <a:latin typeface="Barlow"/>
              </a:rPr>
              <a:t>ous </a:t>
            </a:r>
            <a:r>
              <a:rPr b="0" lang="en-GB" sz="3600" spc="-100" strike="noStrike">
                <a:solidFill>
                  <a:srgbClr val="0067b9"/>
                </a:solidFill>
                <a:latin typeface="Barlow"/>
              </a:rPr>
              <a:t>point</a:t>
            </a:r>
            <a:r>
              <a:rPr b="0" lang="en-GB" sz="3600" spc="-100" strike="noStrike">
                <a:solidFill>
                  <a:srgbClr val="0067b9"/>
                </a:solidFill>
                <a:latin typeface="Barlow"/>
              </a:rPr>
              <a:t>s of </a:t>
            </a:r>
            <a:r>
              <a:rPr b="0" lang="en-GB" sz="3600" spc="-100" strike="noStrike">
                <a:solidFill>
                  <a:srgbClr val="0067b9"/>
                </a:solidFill>
                <a:latin typeface="Barlow"/>
              </a:rPr>
              <a:t>discu</a:t>
            </a:r>
            <a:r>
              <a:rPr b="0" lang="en-GB" sz="3600" spc="-100" strike="noStrike">
                <a:solidFill>
                  <a:srgbClr val="0067b9"/>
                </a:solidFill>
                <a:latin typeface="Barlow"/>
              </a:rPr>
              <a:t>ssion</a:t>
            </a:r>
            <a:endParaRPr b="0" lang="en-US" sz="3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Num" idx="8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A54536AE-AB54-480D-B3EF-CD449F8ADC01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355680" y="939960"/>
            <a:ext cx="1149300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RF amplifier is added between DSAs</a:t>
            </a: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br>
              <a:rPr sz="2600"/>
            </a:b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Output Blocker power is calculated at the input of ADC </a:t>
            </a:r>
            <a:endParaRPr b="0" lang="en-US" sz="2600" spc="-1" strike="noStrike">
              <a:solidFill>
                <a:srgbClr val="000000"/>
              </a:solidFill>
              <a:latin typeface="Barlow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470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Proposed Line-up </a:t>
            </a:r>
            <a:endParaRPr b="0" lang="en-US" sz="3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9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B962E6E0-1B94-4731-96EF-0835CACBDB8C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2514600" y="914400"/>
            <a:ext cx="7224480" cy="4809240"/>
          </a:xfrm>
          <a:prstGeom prst="rect">
            <a:avLst/>
          </a:prstGeom>
          <a:ln w="0">
            <a:noFill/>
          </a:ln>
        </p:spPr>
      </p:pic>
      <p:sp>
        <p:nvSpPr>
          <p:cNvPr id="108" name=""/>
          <p:cNvSpPr/>
          <p:nvPr/>
        </p:nvSpPr>
        <p:spPr>
          <a:xfrm>
            <a:off x="3200400" y="5943600"/>
            <a:ext cx="548640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Cascade analysis (Max gain)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470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Proposed Line-up </a:t>
            </a:r>
            <a:endParaRPr b="0" lang="en-US" sz="3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10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0809AA82-E4DA-4E85-829A-DFCB8396122E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3200400" y="5943600"/>
            <a:ext cx="548640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Cascade analysis (Min. gain)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2232720" y="914400"/>
            <a:ext cx="7549920" cy="488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SNR, SDR and SNDR without blockers</a:t>
            </a:r>
            <a:endParaRPr b="0" lang="en-US" sz="2800" spc="-1" strike="noStrike">
              <a:solidFill>
                <a:srgbClr val="000000"/>
              </a:solidFill>
              <a:latin typeface="Barlow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727200" y="939600"/>
            <a:ext cx="10749600" cy="558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SNR, SDR and SNDR without blockers (ADC enob = 12bits)</a:t>
            </a:r>
            <a:endParaRPr b="0" lang="en-US" sz="2800" spc="-1" strike="noStrike">
              <a:solidFill>
                <a:srgbClr val="000000"/>
              </a:solidFill>
              <a:latin typeface="Barlow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727200" y="939600"/>
            <a:ext cx="10749600" cy="558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SNR, SDR and SNDR without blockers (With blocker and IP2)</a:t>
            </a:r>
            <a:endParaRPr b="0" lang="en-US" sz="2800" spc="-1" strike="noStrike">
              <a:solidFill>
                <a:srgbClr val="000000"/>
              </a:solidFill>
              <a:latin typeface="Barlow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727200" y="939600"/>
            <a:ext cx="10749600" cy="558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Maxi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mum 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Input 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powe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r for 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ADC</a:t>
            </a:r>
            <a:endParaRPr b="0" lang="en-US" sz="3600" spc="-1" strike="noStrike">
              <a:solidFill>
                <a:srgbClr val="000000"/>
              </a:solidFill>
              <a:latin typeface="Barlow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727200" y="939600"/>
            <a:ext cx="10749600" cy="5587560"/>
          </a:xfrm>
          <a:prstGeom prst="rect">
            <a:avLst/>
          </a:prstGeom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560844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r">
              <a:lnSpc>
                <a:spcPct val="80000"/>
              </a:lnSpc>
              <a:buNone/>
            </a:pPr>
            <a:fld id="{58D41550-740D-4B4F-BD96-62EFD172B76D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9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Gain Policy Under Blocking (First DSA)</a:t>
            </a:r>
            <a:endParaRPr b="0" lang="en-US" sz="3600" spc="-1" strike="noStrike">
              <a:solidFill>
                <a:srgbClr val="000000"/>
              </a:solidFill>
              <a:latin typeface="Barlow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727200" y="939600"/>
            <a:ext cx="10749600" cy="5587560"/>
          </a:xfrm>
          <a:prstGeom prst="rect">
            <a:avLst/>
          </a:prstGeom>
          <a:ln w="0">
            <a:noFill/>
          </a:ln>
        </p:spPr>
      </p:pic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560844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r">
              <a:lnSpc>
                <a:spcPct val="80000"/>
              </a:lnSpc>
              <a:buNone/>
            </a:pPr>
            <a:fld id="{EC2D502F-7E6F-456E-A045-CFE05B5FB07A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10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Gain Policy Under Blocking (Second DSA)</a:t>
            </a:r>
            <a:endParaRPr b="0" lang="en-US" sz="3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1149300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r">
              <a:lnSpc>
                <a:spcPct val="80000"/>
              </a:lnSpc>
              <a:buNone/>
            </a:pPr>
            <a:fld id="{35D3B01F-DBE6-4ECF-B1F6-65C765C95921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11</a:t>
            </a:fld>
            <a:endParaRPr b="0" lang="en-US" sz="1000" spc="-1" strike="noStrike">
              <a:latin typeface="Times New Roman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1258200" y="1143000"/>
            <a:ext cx="9675360" cy="502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Gain Policy Under Blocking (VGA)</a:t>
            </a:r>
            <a:endParaRPr b="0" lang="en-US" sz="3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1149300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r">
              <a:lnSpc>
                <a:spcPct val="80000"/>
              </a:lnSpc>
              <a:buNone/>
            </a:pPr>
            <a:fld id="{E1C0BA5E-68F6-490D-9880-C509FAAFD6D7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1347480" y="1143000"/>
            <a:ext cx="9497160" cy="4936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Comparison Between With and Without RF Amp</a:t>
            </a:r>
            <a:endParaRPr b="0" lang="en-US" sz="2800" spc="-1" strike="noStrike">
              <a:solidFill>
                <a:srgbClr val="000000"/>
              </a:solidFill>
              <a:latin typeface="Barlow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727200" y="939600"/>
            <a:ext cx="10749600" cy="5587560"/>
          </a:xfrm>
          <a:prstGeom prst="rect">
            <a:avLst/>
          </a:prstGeom>
          <a:ln w="0">
            <a:noFill/>
          </a:ln>
        </p:spPr>
      </p:pic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355680" y="939960"/>
            <a:ext cx="5608440" cy="55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r">
              <a:lnSpc>
                <a:spcPct val="80000"/>
              </a:lnSpc>
              <a:buNone/>
            </a:pPr>
            <a:fld id="{F2FAFBE9-4FC4-4D09-B677-705C95F62AB6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1172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Comparison Between With and Without RF Amp</a:t>
            </a:r>
            <a:endParaRPr b="0" lang="en-US" sz="2800" spc="-1" strike="noStrike">
              <a:solidFill>
                <a:srgbClr val="000000"/>
              </a:solidFill>
              <a:latin typeface="Barlow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727200" y="939600"/>
            <a:ext cx="10749600" cy="558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37188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SNR, SDR and SNDR without blockers</a:t>
            </a:r>
            <a:endParaRPr b="0" lang="en-US" sz="2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ldNum" idx="11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34CA9BAB-3636-421F-BB59-7689A6AD464A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pic>
        <p:nvPicPr>
          <p:cNvPr id="138" name="Content Placeholder 7" descr=""/>
          <p:cNvPicPr/>
          <p:nvPr/>
        </p:nvPicPr>
        <p:blipFill>
          <a:blip r:embed="rId1"/>
          <a:srcRect l="8446" t="0" r="8446" b="0"/>
          <a:stretch/>
        </p:blipFill>
        <p:spPr>
          <a:xfrm>
            <a:off x="93960" y="1669680"/>
            <a:ext cx="5995440" cy="3516840"/>
          </a:xfrm>
          <a:prstGeom prst="rect">
            <a:avLst/>
          </a:prstGeom>
          <a:ln w="0">
            <a:noFill/>
          </a:ln>
        </p:spPr>
      </p:pic>
      <p:pic>
        <p:nvPicPr>
          <p:cNvPr id="139" name="Picture 9" descr=""/>
          <p:cNvPicPr/>
          <p:nvPr/>
        </p:nvPicPr>
        <p:blipFill>
          <a:blip r:embed="rId2"/>
          <a:srcRect l="8418" t="0" r="8418" b="0"/>
          <a:stretch/>
        </p:blipFill>
        <p:spPr>
          <a:xfrm>
            <a:off x="6095520" y="1669680"/>
            <a:ext cx="6002280" cy="3518280"/>
          </a:xfrm>
          <a:prstGeom prst="rect">
            <a:avLst/>
          </a:prstGeom>
          <a:ln w="0">
            <a:noFill/>
          </a:ln>
        </p:spPr>
      </p:pic>
      <p:sp>
        <p:nvSpPr>
          <p:cNvPr id="140" name="Rectangle 10"/>
          <p:cNvSpPr/>
          <p:nvPr/>
        </p:nvSpPr>
        <p:spPr>
          <a:xfrm>
            <a:off x="437040" y="5049360"/>
            <a:ext cx="5577480" cy="4060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External LNA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1" name="Rectangle 11"/>
          <p:cNvSpPr/>
          <p:nvPr/>
        </p:nvSpPr>
        <p:spPr>
          <a:xfrm>
            <a:off x="6357960" y="5049360"/>
            <a:ext cx="5577480" cy="4060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Internal LNA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37188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Input </a:t>
            </a: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power </a:t>
            </a: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to ADC </a:t>
            </a: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with </a:t>
            </a: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blocker</a:t>
            </a: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s</a:t>
            </a:r>
            <a:endParaRPr b="0" lang="en-US" sz="2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ldNum" idx="12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82E4E8E1-1747-4AAB-AFA8-70ED7BF17C39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pic>
        <p:nvPicPr>
          <p:cNvPr id="144" name="Content Placeholder 7" descr=""/>
          <p:cNvPicPr/>
          <p:nvPr/>
        </p:nvPicPr>
        <p:blipFill>
          <a:blip r:embed="rId1"/>
          <a:srcRect l="8446" t="0" r="8446" b="0"/>
          <a:stretch/>
        </p:blipFill>
        <p:spPr>
          <a:xfrm>
            <a:off x="93960" y="1669680"/>
            <a:ext cx="5995440" cy="3516840"/>
          </a:xfrm>
          <a:prstGeom prst="rect">
            <a:avLst/>
          </a:prstGeom>
          <a:ln w="0">
            <a:noFill/>
          </a:ln>
        </p:spPr>
      </p:pic>
      <p:pic>
        <p:nvPicPr>
          <p:cNvPr id="145" name="Picture 9" descr=""/>
          <p:cNvPicPr/>
          <p:nvPr/>
        </p:nvPicPr>
        <p:blipFill>
          <a:blip r:embed="rId2"/>
          <a:srcRect l="8418" t="0" r="8418" b="0"/>
          <a:stretch/>
        </p:blipFill>
        <p:spPr>
          <a:xfrm>
            <a:off x="6095520" y="1669680"/>
            <a:ext cx="6002280" cy="3518280"/>
          </a:xfrm>
          <a:prstGeom prst="rect">
            <a:avLst/>
          </a:prstGeom>
          <a:ln w="0">
            <a:noFill/>
          </a:ln>
        </p:spPr>
      </p:pic>
      <p:sp>
        <p:nvSpPr>
          <p:cNvPr id="146" name="Rectangle 10"/>
          <p:cNvSpPr/>
          <p:nvPr/>
        </p:nvSpPr>
        <p:spPr>
          <a:xfrm>
            <a:off x="437040" y="5049360"/>
            <a:ext cx="5577480" cy="4060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External LNA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7" name="Rectangle 11"/>
          <p:cNvSpPr/>
          <p:nvPr/>
        </p:nvSpPr>
        <p:spPr>
          <a:xfrm>
            <a:off x="6357960" y="5049360"/>
            <a:ext cx="5577480" cy="4060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Internal LNA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37188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Input power to ADC without blockers</a:t>
            </a:r>
            <a:endParaRPr b="0" lang="en-US" sz="2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ldNum" idx="13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FB4BF960-7AD1-4380-B6D8-53FB634A4746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pic>
        <p:nvPicPr>
          <p:cNvPr id="150" name="Content Placeholder 7" descr=""/>
          <p:cNvPicPr/>
          <p:nvPr/>
        </p:nvPicPr>
        <p:blipFill>
          <a:blip r:embed="rId1"/>
          <a:srcRect l="8446" t="0" r="8446" b="0"/>
          <a:stretch/>
        </p:blipFill>
        <p:spPr>
          <a:xfrm>
            <a:off x="93960" y="1669680"/>
            <a:ext cx="5995440" cy="3516840"/>
          </a:xfrm>
          <a:prstGeom prst="rect">
            <a:avLst/>
          </a:prstGeom>
          <a:ln w="0">
            <a:noFill/>
          </a:ln>
        </p:spPr>
      </p:pic>
      <p:pic>
        <p:nvPicPr>
          <p:cNvPr id="151" name="Picture 9" descr=""/>
          <p:cNvPicPr/>
          <p:nvPr/>
        </p:nvPicPr>
        <p:blipFill>
          <a:blip r:embed="rId2"/>
          <a:srcRect l="8418" t="0" r="8418" b="0"/>
          <a:stretch/>
        </p:blipFill>
        <p:spPr>
          <a:xfrm>
            <a:off x="6095520" y="1669680"/>
            <a:ext cx="6002280" cy="3518280"/>
          </a:xfrm>
          <a:prstGeom prst="rect">
            <a:avLst/>
          </a:prstGeom>
          <a:ln w="0">
            <a:noFill/>
          </a:ln>
        </p:spPr>
      </p:pic>
      <p:sp>
        <p:nvSpPr>
          <p:cNvPr id="152" name="Rectangle 10"/>
          <p:cNvSpPr/>
          <p:nvPr/>
        </p:nvSpPr>
        <p:spPr>
          <a:xfrm>
            <a:off x="437040" y="5049360"/>
            <a:ext cx="5577480" cy="4060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External LNA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3" name="Rectangle 11"/>
          <p:cNvSpPr/>
          <p:nvPr/>
        </p:nvSpPr>
        <p:spPr>
          <a:xfrm>
            <a:off x="6357960" y="5049360"/>
            <a:ext cx="5577480" cy="4060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Internal LNA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37188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Input power to ADC with blockers</a:t>
            </a:r>
            <a:endParaRPr b="0" lang="en-US" sz="28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ldNum" idx="14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E7A12224-D4AA-43F3-8287-E17276117998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pic>
        <p:nvPicPr>
          <p:cNvPr id="156" name="Content Placeholder 7" descr=""/>
          <p:cNvPicPr/>
          <p:nvPr/>
        </p:nvPicPr>
        <p:blipFill>
          <a:blip r:embed="rId1"/>
          <a:srcRect l="8446" t="0" r="8446" b="0"/>
          <a:stretch/>
        </p:blipFill>
        <p:spPr>
          <a:xfrm>
            <a:off x="93960" y="1669680"/>
            <a:ext cx="5995440" cy="3516840"/>
          </a:xfrm>
          <a:prstGeom prst="rect">
            <a:avLst/>
          </a:prstGeom>
          <a:ln w="0">
            <a:noFill/>
          </a:ln>
        </p:spPr>
      </p:pic>
      <p:pic>
        <p:nvPicPr>
          <p:cNvPr id="157" name="Picture 9" descr=""/>
          <p:cNvPicPr/>
          <p:nvPr/>
        </p:nvPicPr>
        <p:blipFill>
          <a:blip r:embed="rId2"/>
          <a:srcRect l="8418" t="0" r="8418" b="0"/>
          <a:stretch/>
        </p:blipFill>
        <p:spPr>
          <a:xfrm>
            <a:off x="6095520" y="1669680"/>
            <a:ext cx="6002280" cy="3518280"/>
          </a:xfrm>
          <a:prstGeom prst="rect">
            <a:avLst/>
          </a:prstGeom>
          <a:ln w="0">
            <a:noFill/>
          </a:ln>
        </p:spPr>
      </p:pic>
      <p:sp>
        <p:nvSpPr>
          <p:cNvPr id="158" name="Rectangle 10"/>
          <p:cNvSpPr/>
          <p:nvPr/>
        </p:nvSpPr>
        <p:spPr>
          <a:xfrm>
            <a:off x="437040" y="5049360"/>
            <a:ext cx="5577480" cy="4060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External LNA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9" name="Rectangle 11"/>
          <p:cNvSpPr/>
          <p:nvPr/>
        </p:nvSpPr>
        <p:spPr>
          <a:xfrm>
            <a:off x="6357960" y="5049360"/>
            <a:ext cx="5577480" cy="4060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Internal LNA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470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DSA Policy with blockers</a:t>
            </a:r>
            <a:endParaRPr b="0" lang="en-US" sz="3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sldNum" idx="15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4B4C2C13-A893-4588-B9A5-AF5F250FABBA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pic>
        <p:nvPicPr>
          <p:cNvPr id="162" name="Content Placeholder 7" descr=""/>
          <p:cNvPicPr/>
          <p:nvPr/>
        </p:nvPicPr>
        <p:blipFill>
          <a:blip r:embed="rId1"/>
          <a:srcRect l="8446" t="0" r="8446" b="0"/>
          <a:stretch/>
        </p:blipFill>
        <p:spPr>
          <a:xfrm>
            <a:off x="93960" y="1669680"/>
            <a:ext cx="5995440" cy="3516840"/>
          </a:xfrm>
          <a:prstGeom prst="rect">
            <a:avLst/>
          </a:prstGeom>
          <a:ln w="0">
            <a:noFill/>
          </a:ln>
        </p:spPr>
      </p:pic>
      <p:pic>
        <p:nvPicPr>
          <p:cNvPr id="163" name="Picture 9" descr=""/>
          <p:cNvPicPr/>
          <p:nvPr/>
        </p:nvPicPr>
        <p:blipFill>
          <a:blip r:embed="rId2"/>
          <a:srcRect l="8418" t="0" r="8418" b="0"/>
          <a:stretch/>
        </p:blipFill>
        <p:spPr>
          <a:xfrm>
            <a:off x="6095520" y="1669680"/>
            <a:ext cx="6002280" cy="3518280"/>
          </a:xfrm>
          <a:prstGeom prst="rect">
            <a:avLst/>
          </a:prstGeom>
          <a:ln w="0">
            <a:noFill/>
          </a:ln>
        </p:spPr>
      </p:pic>
      <p:sp>
        <p:nvSpPr>
          <p:cNvPr id="164" name="Rectangle 10"/>
          <p:cNvSpPr/>
          <p:nvPr/>
        </p:nvSpPr>
        <p:spPr>
          <a:xfrm>
            <a:off x="437040" y="5049360"/>
            <a:ext cx="5577480" cy="4060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External LNA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5" name="Rectangle 11"/>
          <p:cNvSpPr/>
          <p:nvPr/>
        </p:nvSpPr>
        <p:spPr>
          <a:xfrm>
            <a:off x="6357960" y="5049360"/>
            <a:ext cx="5577480" cy="4060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Internal LNA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470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VGA policy with blockers</a:t>
            </a:r>
            <a:endParaRPr b="0" lang="en-US" sz="3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ldNum" idx="16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0DB210A0-B774-4040-8594-978970CB05AC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pic>
        <p:nvPicPr>
          <p:cNvPr id="168" name="Content Placeholder 7" descr=""/>
          <p:cNvPicPr/>
          <p:nvPr/>
        </p:nvPicPr>
        <p:blipFill>
          <a:blip r:embed="rId1"/>
          <a:srcRect l="8446" t="0" r="8446" b="0"/>
          <a:stretch/>
        </p:blipFill>
        <p:spPr>
          <a:xfrm>
            <a:off x="93960" y="1669680"/>
            <a:ext cx="5995440" cy="3516840"/>
          </a:xfrm>
          <a:prstGeom prst="rect">
            <a:avLst/>
          </a:prstGeom>
          <a:ln w="0">
            <a:noFill/>
          </a:ln>
        </p:spPr>
      </p:pic>
      <p:pic>
        <p:nvPicPr>
          <p:cNvPr id="169" name="Picture 9" descr=""/>
          <p:cNvPicPr/>
          <p:nvPr/>
        </p:nvPicPr>
        <p:blipFill>
          <a:blip r:embed="rId2"/>
          <a:srcRect l="8418" t="0" r="8418" b="0"/>
          <a:stretch/>
        </p:blipFill>
        <p:spPr>
          <a:xfrm>
            <a:off x="6095520" y="1669680"/>
            <a:ext cx="6002280" cy="3518280"/>
          </a:xfrm>
          <a:prstGeom prst="rect">
            <a:avLst/>
          </a:prstGeom>
          <a:ln w="0">
            <a:noFill/>
          </a:ln>
        </p:spPr>
      </p:pic>
      <p:sp>
        <p:nvSpPr>
          <p:cNvPr id="170" name="Rectangle 10"/>
          <p:cNvSpPr/>
          <p:nvPr/>
        </p:nvSpPr>
        <p:spPr>
          <a:xfrm>
            <a:off x="437040" y="5049360"/>
            <a:ext cx="5577480" cy="4060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External LNA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1" name="Rectangle 11"/>
          <p:cNvSpPr/>
          <p:nvPr/>
        </p:nvSpPr>
        <p:spPr>
          <a:xfrm>
            <a:off x="6357960" y="5049360"/>
            <a:ext cx="5577480" cy="4060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Internal LNA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470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SNR before ADC</a:t>
            </a:r>
            <a:endParaRPr b="0" lang="en-US" sz="3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ldNum" idx="17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78CD985A-11D3-4728-B4E9-0E8B1298FC6F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pic>
        <p:nvPicPr>
          <p:cNvPr id="174" name="Content Placeholder 7" descr=""/>
          <p:cNvPicPr/>
          <p:nvPr/>
        </p:nvPicPr>
        <p:blipFill>
          <a:blip r:embed="rId1"/>
          <a:srcRect l="8446" t="0" r="8446" b="0"/>
          <a:stretch/>
        </p:blipFill>
        <p:spPr>
          <a:xfrm>
            <a:off x="93960" y="1669680"/>
            <a:ext cx="5995440" cy="3516840"/>
          </a:xfrm>
          <a:prstGeom prst="rect">
            <a:avLst/>
          </a:prstGeom>
          <a:ln w="0">
            <a:noFill/>
          </a:ln>
        </p:spPr>
      </p:pic>
      <p:pic>
        <p:nvPicPr>
          <p:cNvPr id="175" name="Picture 9" descr=""/>
          <p:cNvPicPr/>
          <p:nvPr/>
        </p:nvPicPr>
        <p:blipFill>
          <a:blip r:embed="rId2"/>
          <a:srcRect l="8418" t="0" r="8418" b="0"/>
          <a:stretch/>
        </p:blipFill>
        <p:spPr>
          <a:xfrm>
            <a:off x="6095520" y="1669680"/>
            <a:ext cx="6002280" cy="3518280"/>
          </a:xfrm>
          <a:prstGeom prst="rect">
            <a:avLst/>
          </a:prstGeom>
          <a:ln w="0">
            <a:noFill/>
          </a:ln>
        </p:spPr>
      </p:pic>
      <p:sp>
        <p:nvSpPr>
          <p:cNvPr id="176" name="Rectangle 10"/>
          <p:cNvSpPr/>
          <p:nvPr/>
        </p:nvSpPr>
        <p:spPr>
          <a:xfrm>
            <a:off x="437040" y="5049360"/>
            <a:ext cx="5577480" cy="4060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External LNA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7" name="Rectangle 11"/>
          <p:cNvSpPr/>
          <p:nvPr/>
        </p:nvSpPr>
        <p:spPr>
          <a:xfrm>
            <a:off x="6357960" y="5049360"/>
            <a:ext cx="5577480" cy="4060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Barlow"/>
              </a:rPr>
              <a:t>Internal LNA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8560" cy="47052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Summary</a:t>
            </a:r>
            <a:endParaRPr b="0" lang="en-US" sz="3600" spc="-1" strike="noStrike">
              <a:solidFill>
                <a:srgbClr val="000000"/>
              </a:solidFill>
              <a:latin typeface="Barlow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8"/>
          </p:nvPr>
        </p:nvSpPr>
        <p:spPr>
          <a:xfrm>
            <a:off x="10630080" y="6612840"/>
            <a:ext cx="1218960" cy="241560"/>
          </a:xfrm>
          <a:prstGeom prst="rect">
            <a:avLst/>
          </a:prstGeom>
          <a:noFill/>
          <a:ln w="0">
            <a:noFill/>
          </a:ln>
        </p:spPr>
        <p:txBody>
          <a:bodyPr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0D8A8813-EF98-47C6-BDF2-726DD9F16E41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80" name="Rectangle 5"/>
          <p:cNvSpPr/>
          <p:nvPr/>
        </p:nvSpPr>
        <p:spPr>
          <a:xfrm>
            <a:off x="447120" y="945000"/>
            <a:ext cx="11401560" cy="510012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  <a:miter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graphicFrame>
        <p:nvGraphicFramePr>
          <p:cNvPr id="181" name="Table 6"/>
          <p:cNvGraphicFramePr/>
          <p:nvPr/>
        </p:nvGraphicFramePr>
        <p:xfrm>
          <a:off x="609480" y="1975680"/>
          <a:ext cx="11135160" cy="2966400"/>
        </p:xfrm>
        <a:graphic>
          <a:graphicData uri="http://schemas.openxmlformats.org/drawingml/2006/table">
            <a:tbl>
              <a:tblPr/>
              <a:tblGrid>
                <a:gridCol w="3484800"/>
                <a:gridCol w="2526120"/>
                <a:gridCol w="2523240"/>
                <a:gridCol w="2601000"/>
              </a:tblGrid>
              <a:tr h="37080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67b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Barlow"/>
                        </a:rPr>
                        <a:t>On chip LNA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67b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Barlow"/>
                        </a:rPr>
                        <a:t>External LNA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67b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Barlow"/>
                        </a:rPr>
                        <a:t>Notes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67b9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Gain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22dB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25dB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OIP3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23dB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35dB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f3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f3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SNDR &gt;= 45dB (blockers)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Below 45dB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Below 45dB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Ex. LNA is better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SNDR &gt;= 45dB (no blockers)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19 dBm 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4 dBm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Ex. LNA is larger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f3"/>
                    </a:solidFill>
                  </a:tcPr>
                </a:tc>
              </a:tr>
              <a:tr h="603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Input power to ADC (no blockers)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30dBm range (-20dBm)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30dBm range (-20dBm)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Same performance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</a:tr>
              <a:tr h="603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Input power to ADC (blockers)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28dBm range around     -20dBm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26dBm range around     -20dBm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Ex. LNA is better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af3"/>
                    </a:solidFill>
                  </a:tcPr>
                </a:tc>
              </a:tr>
              <a:tr h="1115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SNR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-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-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Barlow"/>
                        </a:rPr>
                        <a:t>For high input, Ex. LNA is better, but it doesn’t matter as IP3 dominates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d3e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7793002754FD4588A86BC18990FF4C" ma:contentTypeVersion="10" ma:contentTypeDescription="Create a new document." ma:contentTypeScope="" ma:versionID="86730a3902089f8f2e94474e1128496b">
  <xsd:schema xmlns:xsd="http://www.w3.org/2001/XMLSchema" xmlns:xs="http://www.w3.org/2001/XMLSchema" xmlns:p="http://schemas.microsoft.com/office/2006/metadata/properties" xmlns:ns2="4d3cf74c-36c4-4459-8a3d-6b74e4736aa9" xmlns:ns3="a859eca7-4cc5-48ee-9b07-5e32602d6b05" targetNamespace="http://schemas.microsoft.com/office/2006/metadata/properties" ma:root="true" ma:fieldsID="30a91c0dc38995aa3d07752e3cd89cb5" ns2:_="" ns3:_="">
    <xsd:import namespace="4d3cf74c-36c4-4459-8a3d-6b74e4736aa9"/>
    <xsd:import namespace="a859eca7-4cc5-48ee-9b07-5e32602d6b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3cf74c-36c4-4459-8a3d-6b74e4736a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845de00c-9d84-443a-8c85-ac82572830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59eca7-4cc5-48ee-9b07-5e32602d6b0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37fb65e-48ce-4692-890d-38a6e0b20e6b}" ma:internalName="TaxCatchAll" ma:showField="CatchAllData" ma:web="a859eca7-4cc5-48ee-9b07-5e32602d6b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E7F63D-C9F9-4902-8EFE-A8A7396FB0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3cf74c-36c4-4459-8a3d-6b74e4736aa9"/>
    <ds:schemaRef ds:uri="a859eca7-4cc5-48ee-9b07-5e32602d6b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F60AAF-A9E4-4FFF-ACD1-FEC5D28C26E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a689b4-8f87-40e0-9c6f-7228de4d754a}" enabled="0" method="" siteId="{eaa689b4-8f87-40e0-9c6f-7228de4d75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ADI Corporate PowerPoint Template</Template>
  <TotalTime>38824</TotalTime>
  <Application>LibreOffice/7.3.7.2$Linux_X86_64 LibreOffice_project/30$Build-2</Application>
  <AppVersion>15.0000</AppVersion>
  <Words>316</Words>
  <Paragraphs>86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2022-10-11T08:02:46Z</dcterms:created>
  <dc:creator>Haridy, Omar</dc:creator>
  <dc:description>ADI PowerPoint v.9 © 2022 Analog Devices, Inc. All Rights Reserved</dc:description>
  <dc:language>en-US</dc:language>
  <cp:lastModifiedBy/>
  <cp:lastPrinted>2015-04-02T14:52:35Z</cp:lastPrinted>
  <dcterms:modified xsi:type="dcterms:W3CDTF">2025-12-28T01:18:26Z</dcterms:modified>
  <cp:revision>356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